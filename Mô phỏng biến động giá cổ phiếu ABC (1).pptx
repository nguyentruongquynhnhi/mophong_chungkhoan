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8126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và các bạn. Em là Nguyễn Trương Quỳnh Nhi, lớp 25CKDL. Hôm nay em trình bày đề tài mô phỏng biến động giá cổ phiếu ABC bằng Python, do thầy Phan Trần Đức Minh hướng dẫn. Bài gồm: dữ liệu và quy ước, cách viết mã, kết quả phân tích theo tháng, quý, và kết luận.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gồm 365 ngày, mỗi ngày có 7 mức giá. Vì tệp không ghi ngày, em giả định ngày đầu là 1 tháng 1 năm 2025 để chia theo tháng và quý. Ngày đầu chưa có ngày hôm trước nên em đặt giá tham chiếu là 10 000, vì giá ngày 1 chạm đúng 9 000 và 11 000, tức là sàn và trần của mốc này. Em chỉ dùng ba thư viện: numpy, pandas và matplotlib.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ước dùng xuyên suốt bài. Giá tham chiếu là giá đóng cửa hôm trước, màu vàng. Từ đó tính giá sàn bằng 90 phần trăm, màu xanh dương, và giá trần bằng 110 phần trăm, màu tím. Giá nằm giữa tham chiếu và trần thì màu xanh lá, nằm giữa sàn và tham chiếu thì màu đỏ. Các bạn nhớ quy ước này để hiểu video và biểu đồ.</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tách mã thành các tệp nhỏ để dễ kiểm tra và sửa lỗi. data_service lo phần dữ liệu, charts lo phần biểu đồ tĩnh, animate lo phần video, và main chạy tất cả. Mỗi ngày có 7 mức giá nên mỗi khung hình là một mức giá: tổng 2 555 khung hình, chạy 21 khung hình mỗi giây thì video khoảng 2 phút.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cột cho thấy giá trung bình mỗi tháng, đơn vị là nghìn đồng. Giá khởi đầu khoảng 8 573, xuống thấp nhất 6 341 vào tháng 2. Sau đó tăng liên tục đến đỉnh 55 749 vào tháng 9, cột màu cam. Từ tháng 10 giá giảm: 44 674 ở tháng 10, 27 797 ở tháng 11 và 28 252 ở tháng 12.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biểu đồ hộp, mỗi hộp là giá trung bình ngày của một tháng. Vạch màu cam là trung vị. Cạnh dưới và cạnh trên của hộp là tứ phân vị thứ nhất và thứ ba, tức 50 phần trăm số ngày ở giữa. Hai râu là phạm vi giá thông thường, các chấm tròn là điểm ngoại lai. Các bạn nhìn thấy hộp tháng 9 cao nhất và rộng nhất, còn tháng 2 và tháng 4 rất nhỏ.</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 lệch chuẩn cho biết giá dao động nhiều hay ít quanh mức trung bình. Tháng 9 lớn nhất, 11 474, nên biến động mạnh nhất; tháng 2 và tháng 4 chỉ khoảng 830 nên rất ổn định. Trong biểu đồ hộp, cạnh dưới và cạnh trên là tứ phân vị thứ nhất và thứ ba, vạch giữa là trung vị, các chấm ngoài râu là điểm ngoại lai. Giá càng cao thì thường biến động càng mạnh.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đổi trong quý là so sánh giá đóng cửa cuối quý với giá tham chiếu đầu quý. Hai quý đầu tăng nhẹ, khoảng 32 và 23 phần trăm, biến động nhỏ. Quý 3 tăng tới 186 phần trăm, độ lệch chuẩn và biên độ đều lớn nhất năm. Quý 4 giảm khoảng 48 phần trăm. Tóm lại: tăng chậm, bùng nổ, rồi điều chỉnh.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Hàm abnormal_days tìm các ngày đóng cửa chạm sàn, chạm trần hoặc bằng tham chiếu. Kết quả có 219 ngày, khoảng 60 phần trăm số ngày, trong đó 95 ngày đóng cửa ở sàn và 124 ngày ở trần. Vì bảng LaTeX chỉ in 15 dòng đầu nên các bạn không thấy hết danh sách trong báo cáo.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Trục ngang là mức giá, trục dọc là số ngày có giá rơi vào khoảng đó. Cột càng cao thì càng nhiều ngày. Biểu đồ xanh bên trái là hai quý đầu, giá tập trung ở vùng thấp. Biểu đồ đỏ bên phải là hai quý cuối, cả phân bố dịch sang vùng giá cao và trải rộng hơn nhiều.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so sánh hai biểu đồ phân bố giá. Nửa đầu năm giá tập trung ở vùng thấp, trung vị khoảng 10 700. Nửa cuối năm phân bố dịch hẳn sang phải, trung vị khoảng 31 700 và trải rộng hơn. Giá trung bình nửa cuối khoảng 35 600, gấp hơn ba lần nửa đầu khoảng 10 800.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Giá khởi đầu quanh 10 000, giảm xuống đáy 4 333 ngày 7 tháng 2, rồi tăng dần, tăng rất nhanh trong tháng 8 và đạt đỉnh 89 988 ngày 6 tháng 9. Sau đó giảm và kết thúc năm ở khoảng 23 983. Biên độ cả năm là 85 655. Ngày dao động mạnh nhất cũng là ngày đỉnh, biên độ 16 362. Không nên kết luận chỉ từ vài ngày riêng lẻ mà phải nhìn cả đường giá.</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hỏi hay gặp. Màu không phụ thuộc đường đi lên hay xuống, mà phụ thuộc giá hiện tại so với giá tham chiếu của ngày. Ví dụ ngày 2 tháng 1: tham chiếu 11 000, trần 12 100. Giá đi từ 12 100 xuống 11 579, đường đi xuống, nhưng 11 579 vẫn cao hơn 11 000 nên vẫn xanh lá. Dữ liệu có 159 trường hợp như vậy.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cổ phiếu ABC tăng rất mạnh từ giữa năm, đạt đỉnh ngày 6 tháng 9 rồi điều chỉnh giảm. Tháng 9 và quý 3 biến động mạnh nhất. Khoảng 60 phần trăm số ngày chạm sàn hoặc trần. Sản phẩm gồm video, trang web trên GitHub Pages và mã nguồn. Em xin cảm ơn thầy và các bạn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F6FDB"/>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F6FDB"/>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36700"/>
            <a:ext cx="10566400" cy="450850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946150" y="1843036"/>
            <a:ext cx="10883392" cy="1366520"/>
          </a:xfrm>
          <a:prstGeom prst="rect">
            <a:avLst/>
          </a:prstGeom>
          <a:noFill/>
          <a:ln/>
        </p:spPr>
        <p:txBody>
          <a:bodyPr wrap="square" lIns="0" tIns="0" rIns="0" bIns="0" rtlCol="0" anchor="t">
            <a:normAutofit fontScale="90000"/>
          </a:bodyPr>
          <a:lstStyle/>
          <a:p>
            <a:pPr>
              <a:lnSpc>
                <a:spcPts val="6966"/>
              </a:lnSpc>
            </a:pPr>
            <a:r>
              <a:rPr lang="en-US" sz="4800" b="1" dirty="0" err="1">
                <a:solidFill>
                  <a:srgbClr val="FFFFFF"/>
                </a:solidFill>
                <a:latin typeface="Montserrat Bold"/>
                <a:ea typeface="Montserrat Bold"/>
                <a:cs typeface="Montserrat Bold"/>
                <a:sym typeface="Montserrat Bold"/>
              </a:rPr>
              <a:t>Mô</a:t>
            </a:r>
            <a:r>
              <a:rPr lang="en-US" sz="4800" b="1" dirty="0">
                <a:solidFill>
                  <a:srgbClr val="FFFFFF"/>
                </a:solidFill>
                <a:latin typeface="Montserrat Bold"/>
                <a:ea typeface="Montserrat Bold"/>
                <a:cs typeface="Montserrat Bold"/>
                <a:sym typeface="Montserrat Bold"/>
              </a:rPr>
              <a:t> </a:t>
            </a:r>
            <a:r>
              <a:rPr lang="en-US" sz="4800" b="1" dirty="0" err="1">
                <a:solidFill>
                  <a:srgbClr val="FFFFFF"/>
                </a:solidFill>
                <a:latin typeface="Montserrat Bold"/>
                <a:ea typeface="Montserrat Bold"/>
                <a:cs typeface="Montserrat Bold"/>
                <a:sym typeface="Montserrat Bold"/>
              </a:rPr>
              <a:t>phỏng</a:t>
            </a:r>
            <a:r>
              <a:rPr lang="en-US" sz="4800" b="1" dirty="0">
                <a:solidFill>
                  <a:srgbClr val="FFFFFF"/>
                </a:solidFill>
                <a:latin typeface="Montserrat Bold"/>
                <a:ea typeface="Montserrat Bold"/>
                <a:cs typeface="Montserrat Bold"/>
                <a:sym typeface="Montserrat Bold"/>
              </a:rPr>
              <a:t> </a:t>
            </a:r>
            <a:r>
              <a:rPr lang="en-US" sz="4800" b="1" dirty="0" err="1">
                <a:solidFill>
                  <a:srgbClr val="FFFFFF"/>
                </a:solidFill>
                <a:latin typeface="Montserrat Bold"/>
                <a:ea typeface="Montserrat Bold"/>
                <a:cs typeface="Montserrat Bold"/>
                <a:sym typeface="Montserrat Bold"/>
              </a:rPr>
              <a:t>biến</a:t>
            </a:r>
            <a:r>
              <a:rPr lang="en-US" sz="4800" b="1" dirty="0">
                <a:solidFill>
                  <a:srgbClr val="FFFFFF"/>
                </a:solidFill>
                <a:latin typeface="Montserrat Bold"/>
                <a:ea typeface="Montserrat Bold"/>
                <a:cs typeface="Montserrat Bold"/>
                <a:sym typeface="Montserrat Bold"/>
              </a:rPr>
              <a:t> </a:t>
            </a:r>
            <a:r>
              <a:rPr lang="en-US" sz="4800" b="1" dirty="0" err="1">
                <a:solidFill>
                  <a:srgbClr val="FFFFFF"/>
                </a:solidFill>
                <a:latin typeface="Montserrat Bold"/>
                <a:ea typeface="Montserrat Bold"/>
                <a:cs typeface="Montserrat Bold"/>
                <a:sym typeface="Montserrat Bold"/>
              </a:rPr>
              <a:t>động</a:t>
            </a:r>
            <a:r>
              <a:rPr lang="en-US" sz="4800" b="1" dirty="0">
                <a:solidFill>
                  <a:srgbClr val="FFFFFF"/>
                </a:solidFill>
                <a:latin typeface="Montserrat Bold"/>
                <a:ea typeface="Montserrat Bold"/>
                <a:cs typeface="Montserrat Bold"/>
                <a:sym typeface="Montserrat Bold"/>
              </a:rPr>
              <a:t/>
            </a:r>
            <a:br>
              <a:rPr lang="en-US" sz="4800" b="1" dirty="0">
                <a:solidFill>
                  <a:srgbClr val="FFFFFF"/>
                </a:solidFill>
                <a:latin typeface="Montserrat Bold"/>
                <a:ea typeface="Montserrat Bold"/>
                <a:cs typeface="Montserrat Bold"/>
                <a:sym typeface="Montserrat Bold"/>
              </a:rPr>
            </a:br>
            <a:r>
              <a:rPr lang="en-US" sz="4800" b="1" dirty="0" err="1">
                <a:solidFill>
                  <a:srgbClr val="FFFFFF"/>
                </a:solidFill>
                <a:latin typeface="Montserrat Bold"/>
                <a:ea typeface="Montserrat Bold"/>
                <a:cs typeface="Montserrat Bold"/>
                <a:sym typeface="Montserrat Bold"/>
              </a:rPr>
              <a:t>giá</a:t>
            </a:r>
            <a:r>
              <a:rPr lang="en-US" sz="4800" b="1" dirty="0">
                <a:solidFill>
                  <a:srgbClr val="FFFFFF"/>
                </a:solidFill>
                <a:latin typeface="Montserrat Bold"/>
                <a:ea typeface="Montserrat Bold"/>
                <a:cs typeface="Montserrat Bold"/>
                <a:sym typeface="Montserrat Bold"/>
              </a:rPr>
              <a:t> </a:t>
            </a:r>
            <a:r>
              <a:rPr lang="en-US" sz="4800" b="1" dirty="0" err="1">
                <a:solidFill>
                  <a:srgbClr val="FFFFFF"/>
                </a:solidFill>
                <a:latin typeface="Montserrat Bold"/>
                <a:ea typeface="Montserrat Bold"/>
                <a:cs typeface="Montserrat Bold"/>
                <a:sym typeface="Montserrat Bold"/>
              </a:rPr>
              <a:t>cổ</a:t>
            </a:r>
            <a:r>
              <a:rPr lang="en-US" sz="4800" b="1" dirty="0">
                <a:solidFill>
                  <a:srgbClr val="FFFFFF"/>
                </a:solidFill>
                <a:latin typeface="Montserrat Bold"/>
                <a:ea typeface="Montserrat Bold"/>
                <a:cs typeface="Montserrat Bold"/>
                <a:sym typeface="Montserrat Bold"/>
              </a:rPr>
              <a:t> </a:t>
            </a:r>
            <a:r>
              <a:rPr lang="en-US" sz="4800" b="1" dirty="0" err="1">
                <a:solidFill>
                  <a:srgbClr val="FFFFFF"/>
                </a:solidFill>
                <a:latin typeface="Montserrat Bold"/>
                <a:ea typeface="Montserrat Bold"/>
                <a:cs typeface="Montserrat Bold"/>
                <a:sym typeface="Montserrat Bold"/>
              </a:rPr>
              <a:t>phiếu</a:t>
            </a:r>
            <a:r>
              <a:rPr lang="en-US" sz="4800" b="1" dirty="0">
                <a:solidFill>
                  <a:srgbClr val="FFFFFF"/>
                </a:solidFill>
                <a:latin typeface="Montserrat Bold"/>
                <a:ea typeface="Montserrat Bold"/>
                <a:cs typeface="Montserrat Bold"/>
                <a:sym typeface="Montserrat Bold"/>
              </a:rPr>
              <a:t> ABC</a:t>
            </a:r>
            <a:endParaRPr lang="en-US" sz="4800" b="1" dirty="0">
              <a:solidFill>
                <a:srgbClr val="FFFFFF"/>
              </a:solidFill>
              <a:latin typeface="Montserrat Bold"/>
              <a:ea typeface="Montserrat Bold"/>
              <a:cs typeface="Montserrat Bold"/>
              <a:sym typeface="Montserrat Bold"/>
            </a:endParaRPr>
          </a:p>
        </p:txBody>
      </p:sp>
      <p:sp>
        <p:nvSpPr>
          <p:cNvPr id="5" name="Text 3"/>
          <p:cNvSpPr/>
          <p:nvPr/>
        </p:nvSpPr>
        <p:spPr>
          <a:xfrm>
            <a:off x="812800" y="4079290"/>
            <a:ext cx="10883392" cy="939800"/>
          </a:xfrm>
          <a:prstGeom prst="rect">
            <a:avLst/>
          </a:prstGeom>
          <a:noFill/>
          <a:ln/>
        </p:spPr>
        <p:txBody>
          <a:bodyPr wrap="square" lIns="0" tIns="0" rIns="0" bIns="0" rtlCol="0" anchor="t">
            <a:normAutofit/>
          </a:bodyPr>
          <a:lstStyle/>
          <a:p>
            <a:pPr marL="0" indent="0" algn="l">
              <a:lnSpc>
                <a:spcPts val="2400"/>
              </a:lnSpc>
              <a:buNone/>
            </a:pPr>
            <a:r>
              <a:rPr lang="en-US" sz="1500" dirty="0">
                <a:solidFill>
                  <a:srgbClr val="F5F3EC"/>
                </a:solidFill>
                <a:latin typeface="Arial" pitchFamily="34" charset="0"/>
                <a:ea typeface="Arial" pitchFamily="34" charset="-122"/>
                <a:cs typeface="Arial" pitchFamily="34" charset="-120"/>
              </a:rPr>
              <a:t>Giáo viên hướng dẫn: Phan Trần Đức Minh</a:t>
            </a:r>
            <a:endParaRPr lang="en-US" sz="1500" dirty="0"/>
          </a:p>
          <a:p>
            <a:pPr marL="0" indent="0" algn="l">
              <a:lnSpc>
                <a:spcPts val="2400"/>
              </a:lnSpc>
              <a:buNone/>
            </a:pPr>
            <a:r>
              <a:rPr lang="vi-VN" sz="1500" dirty="0" smtClean="0">
                <a:solidFill>
                  <a:srgbClr val="F5F3EC"/>
                </a:solidFill>
                <a:latin typeface="Arial" pitchFamily="34" charset="0"/>
                <a:ea typeface="Arial" pitchFamily="34" charset="-122"/>
                <a:cs typeface="Arial" pitchFamily="34" charset="-120"/>
              </a:rPr>
              <a:t>Người trình bày </a:t>
            </a:r>
            <a:r>
              <a:rPr lang="en-US" sz="1500" dirty="0" smtClean="0">
                <a:solidFill>
                  <a:srgbClr val="F5F3EC"/>
                </a:solidFill>
                <a:latin typeface="Arial" pitchFamily="34" charset="0"/>
                <a:ea typeface="Arial" pitchFamily="34" charset="-122"/>
                <a:cs typeface="Arial" pitchFamily="34" charset="-120"/>
              </a:rPr>
              <a:t>: </a:t>
            </a:r>
            <a:r>
              <a:rPr lang="en-US" sz="1500" dirty="0">
                <a:solidFill>
                  <a:srgbClr val="F5F3EC"/>
                </a:solidFill>
                <a:latin typeface="Arial" pitchFamily="34" charset="0"/>
                <a:ea typeface="Arial" pitchFamily="34" charset="-122"/>
                <a:cs typeface="Arial" pitchFamily="34" charset="-120"/>
              </a:rPr>
              <a:t>Nguyễn Trương Quỳnh Nhi · MSSV 3110525029 · </a:t>
            </a:r>
            <a:r>
              <a:rPr lang="en-US" sz="1500" dirty="0" err="1">
                <a:solidFill>
                  <a:srgbClr val="F5F3EC"/>
                </a:solidFill>
                <a:latin typeface="Arial" pitchFamily="34" charset="0"/>
                <a:ea typeface="Arial" pitchFamily="34" charset="-122"/>
                <a:cs typeface="Arial" pitchFamily="34" charset="-120"/>
              </a:rPr>
              <a:t>Lớp</a:t>
            </a:r>
            <a:r>
              <a:rPr lang="en-US" sz="1500" dirty="0">
                <a:solidFill>
                  <a:srgbClr val="F5F3EC"/>
                </a:solidFill>
                <a:latin typeface="Arial" pitchFamily="34" charset="0"/>
                <a:ea typeface="Arial" pitchFamily="34" charset="-122"/>
                <a:cs typeface="Arial" pitchFamily="34" charset="-120"/>
              </a:rPr>
              <a:t> </a:t>
            </a:r>
            <a:r>
              <a:rPr lang="en-US" sz="1500" dirty="0" smtClean="0">
                <a:solidFill>
                  <a:srgbClr val="F5F3EC"/>
                </a:solidFill>
                <a:latin typeface="Arial" pitchFamily="34" charset="0"/>
                <a:ea typeface="Arial" pitchFamily="34" charset="-122"/>
                <a:cs typeface="Arial" pitchFamily="34" charset="-120"/>
              </a:rPr>
              <a:t>25CKDL</a:t>
            </a:r>
            <a:endParaRPr lang="en-US" sz="1500" dirty="0"/>
          </a:p>
        </p:txBody>
      </p:sp>
      <p:grpSp>
        <p:nvGrpSpPr>
          <p:cNvPr id="6" name="Group 6"/>
          <p:cNvGrpSpPr/>
          <p:nvPr/>
        </p:nvGrpSpPr>
        <p:grpSpPr>
          <a:xfrm>
            <a:off x="812800" y="1652563"/>
            <a:ext cx="133350" cy="2178050"/>
            <a:chOff x="0" y="0"/>
            <a:chExt cx="177800" cy="3175000"/>
          </a:xfrm>
        </p:grpSpPr>
        <p:sp>
          <p:nvSpPr>
            <p:cNvPr id="7" name="Freeform 7"/>
            <p:cNvSpPr/>
            <p:nvPr/>
          </p:nvSpPr>
          <p:spPr>
            <a:xfrm>
              <a:off x="0" y="0"/>
              <a:ext cx="177800" cy="3175000"/>
            </a:xfrm>
            <a:custGeom>
              <a:avLst/>
              <a:gdLst/>
              <a:ahLst/>
              <a:cxnLst/>
              <a:rect l="l" t="t" r="r" b="b"/>
              <a:pathLst>
                <a:path w="177800" h="3175000">
                  <a:moveTo>
                    <a:pt x="0" y="0"/>
                  </a:moveTo>
                  <a:lnTo>
                    <a:pt x="177800" y="0"/>
                  </a:lnTo>
                  <a:lnTo>
                    <a:pt x="177800" y="3175000"/>
                  </a:lnTo>
                  <a:lnTo>
                    <a:pt x="0" y="3175000"/>
                  </a:lnTo>
                  <a:close/>
                </a:path>
              </a:pathLst>
            </a:custGeom>
            <a:solidFill>
              <a:srgbClr val="C8F560"/>
            </a:solidFill>
            <a:ln cap="sq">
              <a:noFill/>
              <a:prstDash val="solid"/>
              <a:miter/>
            </a:ln>
          </p:spPr>
        </p:sp>
        <p:sp>
          <p:nvSpPr>
            <p:cNvPr id="8" name="TextBox 8"/>
            <p:cNvSpPr txBox="1"/>
            <p:nvPr/>
          </p:nvSpPr>
          <p:spPr>
            <a:xfrm>
              <a:off x="0" y="-38100"/>
              <a:ext cx="177800" cy="3213100"/>
            </a:xfrm>
            <a:prstGeom prst="rect">
              <a:avLst/>
            </a:prstGeom>
          </p:spPr>
          <p:txBody>
            <a:bodyPr lIns="50800" tIns="50800" rIns="50800" bIns="50800" rtlCol="0" anchor="ctr"/>
            <a:lstStyle/>
            <a:p>
              <a:pPr algn="l">
                <a:lnSpc>
                  <a:spcPts val="1679"/>
                </a:lnSpc>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Giới thiệu và dữ liệu</a:t>
            </a:r>
            <a:endParaRPr lang="en-US" sz="3000" dirty="0"/>
          </a:p>
        </p:txBody>
      </p:sp>
      <p:sp>
        <p:nvSpPr>
          <p:cNvPr id="3" name="Shape 1"/>
          <p:cNvSpPr/>
          <p:nvPr/>
        </p:nvSpPr>
        <p:spPr>
          <a:xfrm>
            <a:off x="815975" y="1489075"/>
            <a:ext cx="3380264" cy="1637030"/>
          </a:xfrm>
          <a:prstGeom prst="roundRect">
            <a:avLst>
              <a:gd name="adj" fmla="val 6012"/>
            </a:avLst>
          </a:prstGeom>
          <a:solidFill>
            <a:srgbClr val="FFFFFF"/>
          </a:solidFill>
          <a:ln w="6350">
            <a:solidFill>
              <a:srgbClr val="E0DCCF"/>
            </a:solidFill>
            <a:prstDash val="solid"/>
          </a:ln>
        </p:spPr>
      </p:sp>
      <p:sp>
        <p:nvSpPr>
          <p:cNvPr id="4" name="Text 2"/>
          <p:cNvSpPr/>
          <p:nvPr/>
        </p:nvSpPr>
        <p:spPr>
          <a:xfrm>
            <a:off x="1046480" y="1719580"/>
            <a:ext cx="3006831"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365</a:t>
            </a:r>
            <a:endParaRPr lang="en-US" sz="3400" dirty="0"/>
          </a:p>
        </p:txBody>
      </p:sp>
      <p:sp>
        <p:nvSpPr>
          <p:cNvPr id="5" name="Text 3"/>
          <p:cNvSpPr/>
          <p:nvPr/>
        </p:nvSpPr>
        <p:spPr>
          <a:xfrm>
            <a:off x="1046480" y="2400300"/>
            <a:ext cx="3006831"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ngày giao dịch trong một năm</a:t>
            </a:r>
            <a:endParaRPr lang="en-US" sz="1500" dirty="0"/>
          </a:p>
        </p:txBody>
      </p:sp>
      <p:sp>
        <p:nvSpPr>
          <p:cNvPr id="6" name="Shape 4"/>
          <p:cNvSpPr/>
          <p:nvPr/>
        </p:nvSpPr>
        <p:spPr>
          <a:xfrm>
            <a:off x="4405789" y="1489075"/>
            <a:ext cx="3380343" cy="1637030"/>
          </a:xfrm>
          <a:prstGeom prst="roundRect">
            <a:avLst>
              <a:gd name="adj" fmla="val 6012"/>
            </a:avLst>
          </a:prstGeom>
          <a:solidFill>
            <a:srgbClr val="FFFFFF"/>
          </a:solidFill>
          <a:ln w="6350">
            <a:solidFill>
              <a:srgbClr val="E0DCCF"/>
            </a:solidFill>
            <a:prstDash val="solid"/>
          </a:ln>
        </p:spPr>
      </p:sp>
      <p:sp>
        <p:nvSpPr>
          <p:cNvPr id="7" name="Text 5"/>
          <p:cNvSpPr/>
          <p:nvPr/>
        </p:nvSpPr>
        <p:spPr>
          <a:xfrm>
            <a:off x="4636294" y="1719580"/>
            <a:ext cx="3006913"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7</a:t>
            </a:r>
            <a:endParaRPr lang="en-US" sz="3400" dirty="0"/>
          </a:p>
        </p:txBody>
      </p:sp>
      <p:sp>
        <p:nvSpPr>
          <p:cNvPr id="8" name="Text 6"/>
          <p:cNvSpPr/>
          <p:nvPr/>
        </p:nvSpPr>
        <p:spPr>
          <a:xfrm>
            <a:off x="4636294" y="2400300"/>
            <a:ext cx="3006913"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mức giá mỗi ngày: mở cửa, 5 mức ở các phiên giữa, đóng cửa</a:t>
            </a:r>
            <a:endParaRPr lang="en-US" sz="1500" dirty="0"/>
          </a:p>
        </p:txBody>
      </p:sp>
      <p:sp>
        <p:nvSpPr>
          <p:cNvPr id="9" name="Shape 7"/>
          <p:cNvSpPr/>
          <p:nvPr/>
        </p:nvSpPr>
        <p:spPr>
          <a:xfrm>
            <a:off x="7995682" y="1489075"/>
            <a:ext cx="3380343" cy="1637030"/>
          </a:xfrm>
          <a:prstGeom prst="roundRect">
            <a:avLst>
              <a:gd name="adj" fmla="val 6012"/>
            </a:avLst>
          </a:prstGeom>
          <a:solidFill>
            <a:srgbClr val="FFFFFF"/>
          </a:solidFill>
          <a:ln w="6350">
            <a:solidFill>
              <a:srgbClr val="E0DCCF"/>
            </a:solidFill>
            <a:prstDash val="solid"/>
          </a:ln>
        </p:spPr>
      </p:sp>
      <p:sp>
        <p:nvSpPr>
          <p:cNvPr id="10" name="Text 8"/>
          <p:cNvSpPr/>
          <p:nvPr/>
        </p:nvSpPr>
        <p:spPr>
          <a:xfrm>
            <a:off x="8226187" y="1719580"/>
            <a:ext cx="3006913"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2F6FDB"/>
                </a:solidFill>
                <a:latin typeface="Arial" pitchFamily="34" charset="0"/>
                <a:ea typeface="Arial" pitchFamily="34" charset="-122"/>
                <a:cs typeface="Arial" pitchFamily="34" charset="-120"/>
              </a:rPr>
              <a:t>3</a:t>
            </a:r>
            <a:endParaRPr lang="en-US" sz="3400" dirty="0"/>
          </a:p>
        </p:txBody>
      </p:sp>
      <p:sp>
        <p:nvSpPr>
          <p:cNvPr id="11" name="Text 9"/>
          <p:cNvSpPr/>
          <p:nvPr/>
        </p:nvSpPr>
        <p:spPr>
          <a:xfrm>
            <a:off x="8226187" y="2400300"/>
            <a:ext cx="3006913"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thư viện: numpy, pandas, matplotlib</a:t>
            </a:r>
            <a:endParaRPr lang="en-US" sz="1500" dirty="0"/>
          </a:p>
        </p:txBody>
      </p:sp>
      <p:sp>
        <p:nvSpPr>
          <p:cNvPr id="12" name="Text 10"/>
          <p:cNvSpPr/>
          <p:nvPr/>
        </p:nvSpPr>
        <p:spPr>
          <a:xfrm>
            <a:off x="889508" y="3383280"/>
            <a:ext cx="10799064" cy="116332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Dữ liệu lấy từ tệp </a:t>
            </a:r>
            <a:r>
              <a:rPr lang="en-US" sz="1600" b="1" dirty="0">
                <a:solidFill>
                  <a:srgbClr val="14213D"/>
                </a:solidFill>
                <a:latin typeface="Arial" pitchFamily="34" charset="0"/>
                <a:ea typeface="Arial" pitchFamily="34" charset="-122"/>
                <a:cs typeface="Arial" pitchFamily="34" charset="-120"/>
              </a:rPr>
              <a:t>abc-25.csv</a:t>
            </a:r>
            <a:r>
              <a:rPr lang="en-US" sz="1600" dirty="0">
                <a:solidFill>
                  <a:srgbClr val="14213D"/>
                </a:solidFill>
                <a:latin typeface="Arial" pitchFamily="34" charset="0"/>
                <a:ea typeface="Arial" pitchFamily="34" charset="-122"/>
                <a:cs typeface="Arial" pitchFamily="34" charset="-120"/>
              </a:rPr>
              <a:t>: mỗi dòng là một ngày.</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Giả định ngày đầu tiên là </a:t>
            </a:r>
            <a:r>
              <a:rPr lang="en-US" sz="1600" b="1" dirty="0">
                <a:solidFill>
                  <a:srgbClr val="14213D"/>
                </a:solidFill>
                <a:latin typeface="Arial" pitchFamily="34" charset="0"/>
                <a:ea typeface="Arial" pitchFamily="34" charset="-122"/>
                <a:cs typeface="Arial" pitchFamily="34" charset="-120"/>
              </a:rPr>
              <a:t>01/01/2025</a:t>
            </a:r>
            <a:r>
              <a:rPr lang="en-US" sz="1600" dirty="0">
                <a:solidFill>
                  <a:srgbClr val="14213D"/>
                </a:solidFill>
                <a:latin typeface="Arial" pitchFamily="34" charset="0"/>
                <a:ea typeface="Arial" pitchFamily="34" charset="-122"/>
                <a:cs typeface="Arial" pitchFamily="34" charset="-120"/>
              </a:rPr>
              <a:t> để chia dữ liệu theo tháng và quý.</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Ngày đầu có giá tham chiếu giả định </a:t>
            </a:r>
            <a:r>
              <a:rPr lang="en-US" sz="1600" b="1" dirty="0">
                <a:solidFill>
                  <a:srgbClr val="14213D"/>
                </a:solidFill>
                <a:latin typeface="Arial" pitchFamily="34" charset="0"/>
                <a:ea typeface="Arial" pitchFamily="34" charset="-122"/>
                <a:cs typeface="Arial" pitchFamily="34" charset="-120"/>
              </a:rPr>
              <a:t>10 000</a:t>
            </a:r>
            <a:r>
              <a:rPr lang="en-US" sz="1600" dirty="0">
                <a:solidFill>
                  <a:srgbClr val="14213D"/>
                </a:solidFill>
                <a:latin typeface="Arial" pitchFamily="34" charset="0"/>
                <a:ea typeface="Arial" pitchFamily="34" charset="-122"/>
                <a:cs typeface="Arial" pitchFamily="34" charset="-120"/>
              </a:rPr>
              <a:t>, vì giá ngày 1 chạm đúng 9 000 và 11 000 (sàn và trần của mốc 10 000).</a:t>
            </a:r>
            <a:endParaRPr lang="en-US" sz="1600" dirty="0"/>
          </a:p>
        </p:txBody>
      </p:sp>
      <p:sp>
        <p:nvSpPr>
          <p:cNvPr id="13" name="Text 11"/>
          <p:cNvSpPr/>
          <p:nvPr/>
        </p:nvSpPr>
        <p:spPr>
          <a:xfrm>
            <a:off x="812800" y="6238241"/>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ircle(in)">
                                      <p:cBhvr>
                                        <p:cTn id="10" dur="2000"/>
                                        <p:tgtEl>
                                          <p:spTgt spid="4"/>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circle(in)">
                                      <p:cBhvr>
                                        <p:cTn id="16" dur="2000"/>
                                        <p:tgtEl>
                                          <p:spTgt spid="6"/>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par>
                                <p:cTn id="23" presetID="6" presetClass="entr" presetSubtype="16"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circle(in)">
                                      <p:cBhvr>
                                        <p:cTn id="25" dur="2000"/>
                                        <p:tgtEl>
                                          <p:spTgt spid="9"/>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circle(in)">
                                      <p:cBhvr>
                                        <p:cTn id="28" dur="2000"/>
                                        <p:tgtEl>
                                          <p:spTgt spid="10"/>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circle(in)">
                                      <p:cBhvr>
                                        <p:cTn id="31" dur="2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heel(1)">
                                      <p:cBhvr>
                                        <p:cTn id="3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8743B"/>
                </a:solidFill>
                <a:latin typeface="Arial" pitchFamily="34" charset="0"/>
                <a:ea typeface="Arial" pitchFamily="34" charset="-122"/>
                <a:cs typeface="Arial" pitchFamily="34" charset="-120"/>
              </a:rPr>
              <a:t>Quy ước giá và màu sắc</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1" cy="288036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480060">
                <a:tc>
                  <a:txBody>
                    <a:bodyPr/>
                    <a:lstStyle/>
                    <a:p>
                      <a:pPr marL="0" indent="0">
                        <a:lnSpc>
                          <a:spcPts val="2100"/>
                        </a:lnSpc>
                        <a:buNone/>
                      </a:pPr>
                      <a:r>
                        <a:rPr lang="en-US" sz="1500" b="1" dirty="0">
                          <a:solidFill>
                            <a:srgbClr val="F5F3EC"/>
                          </a:solidFill>
                          <a:latin typeface="Arial" pitchFamily="34" charset="0"/>
                          <a:ea typeface="Arial" pitchFamily="34" charset="-122"/>
                          <a:cs typeface="Arial" pitchFamily="34" charset="-120"/>
                        </a:rPr>
                        <a:t>Màu</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tc>
                  <a:txBody>
                    <a:bodyPr/>
                    <a:lstStyle/>
                    <a:p>
                      <a:pPr marL="0" indent="0">
                        <a:lnSpc>
                          <a:spcPts val="2100"/>
                        </a:lnSpc>
                        <a:buNone/>
                      </a:pPr>
                      <a:r>
                        <a:rPr lang="en-US" sz="1500" b="1" dirty="0">
                          <a:solidFill>
                            <a:srgbClr val="F5F3EC"/>
                          </a:solidFill>
                          <a:latin typeface="Arial" pitchFamily="34" charset="0"/>
                          <a:ea typeface="Arial" pitchFamily="34" charset="-122"/>
                          <a:cs typeface="Arial" pitchFamily="34" charset="-120"/>
                        </a:rPr>
                        <a:t>Tên giá</a:t>
                      </a:r>
                      <a:endParaRPr lang="en-US" sz="1500" dirty="0">
                        <a:latin typeface="Arial" charset="0"/>
                        <a:ea typeface="Arial" charset="0"/>
                        <a:cs typeface="Arial" charset="0"/>
                      </a:endParaRPr>
                    </a:p>
                  </a:txBody>
                  <a:tcPr marL="101600" marR="101600" marT="101600" marB="101600">
                    <a:lnL w="12700" cap="flat" cmpd="sng" algn="ctr">
                      <a:solidFill>
                        <a:srgbClr val="545F73"/>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tc>
                  <a:txBody>
                    <a:bodyPr/>
                    <a:lstStyle/>
                    <a:p>
                      <a:pPr marL="0" indent="0">
                        <a:lnSpc>
                          <a:spcPts val="2100"/>
                        </a:lnSpc>
                        <a:buNone/>
                      </a:pPr>
                      <a:r>
                        <a:rPr lang="en-US" sz="1500" b="1" dirty="0">
                          <a:solidFill>
                            <a:srgbClr val="F5F3EC"/>
                          </a:solidFill>
                          <a:latin typeface="Arial" pitchFamily="34" charset="0"/>
                          <a:ea typeface="Arial" pitchFamily="34" charset="-122"/>
                          <a:cs typeface="Arial" pitchFamily="34" charset="-120"/>
                        </a:rPr>
                        <a:t>Ý nghĩa</a:t>
                      </a:r>
                      <a:endParaRPr lang="en-US" sz="1500" dirty="0">
                        <a:latin typeface="Arial" charset="0"/>
                        <a:ea typeface="Arial" charset="0"/>
                        <a:cs typeface="Arial" charset="0"/>
                      </a:endParaRPr>
                    </a:p>
                  </a:txBody>
                  <a:tcPr marL="101600" marR="101600" marT="101600" marB="101600">
                    <a:lnL w="12700" cap="flat" cmpd="sng" algn="ctr">
                      <a:solidFill>
                        <a:srgbClr val="545F73"/>
                      </a:solidFill>
                      <a:prstDash val="solid"/>
                      <a:round/>
                      <a:headEnd type="none" w="med" len="med"/>
                      <a:tailEnd type="none" w="med" len="med"/>
                    </a:lnL>
                    <a:lnR w="12700" cap="flat" cmpd="sng" algn="ctr">
                      <a:solidFill>
                        <a:srgbClr val="545F73"/>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545F73"/>
                      </a:solidFill>
                      <a:prstDash val="solid"/>
                      <a:round/>
                      <a:headEnd type="none" w="med" len="med"/>
                      <a:tailEnd type="none" w="med" len="med"/>
                    </a:lnB>
                    <a:solidFill>
                      <a:srgbClr val="25344E"/>
                    </a:solidFill>
                  </a:tcPr>
                </a:tc>
                <a:extLst>
                  <a:ext uri="{0D108BD9-81ED-4DB2-BD59-A6C34878D82A}">
                    <a16:rowId xmlns:a16="http://schemas.microsoft.com/office/drawing/2014/main" val="10000"/>
                  </a:ext>
                </a:extLst>
              </a:tr>
              <a:tr h="48006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Vàng</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Giá tham chiếu</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Giá đóng cửa của ngày liền trước</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545F73"/>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extLst>
                  <a:ext uri="{0D108BD9-81ED-4DB2-BD59-A6C34878D82A}">
                    <a16:rowId xmlns:a16="http://schemas.microsoft.com/office/drawing/2014/main" val="10001"/>
                  </a:ext>
                </a:extLst>
              </a:tr>
              <a:tr h="48006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Xanh dương</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Giá sàn</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Bằng 90% giá tham chiếu</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extLst>
                  <a:ext uri="{0D108BD9-81ED-4DB2-BD59-A6C34878D82A}">
                    <a16:rowId xmlns:a16="http://schemas.microsoft.com/office/drawing/2014/main" val="10002"/>
                  </a:ext>
                </a:extLst>
              </a:tr>
              <a:tr h="48006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Tím</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Giá trần</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Bằng 110% giá tham chiếu</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extLst>
                  <a:ext uri="{0D108BD9-81ED-4DB2-BD59-A6C34878D82A}">
                    <a16:rowId xmlns:a16="http://schemas.microsoft.com/office/drawing/2014/main" val="10003"/>
                  </a:ext>
                </a:extLst>
              </a:tr>
              <a:tr h="48006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Xanh lá</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Giá tăng</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Cao hơn tham chiếu (chưa tới trần)</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extLst>
                  <a:ext uri="{0D108BD9-81ED-4DB2-BD59-A6C34878D82A}">
                    <a16:rowId xmlns:a16="http://schemas.microsoft.com/office/drawing/2014/main" val="10004"/>
                  </a:ext>
                </a:extLst>
              </a:tr>
              <a:tr h="48006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Đỏ</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Giá giảm</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Thấp hơn tham chiếu (chưa tới sàn)</a:t>
                      </a:r>
                      <a:endParaRPr lang="en-US" sz="1500" dirty="0">
                        <a:latin typeface="Arial" charset="0"/>
                        <a:ea typeface="Arial" charset="0"/>
                        <a:cs typeface="Arial" charset="0"/>
                      </a:endParaRPr>
                    </a:p>
                  </a:txBody>
                  <a:tcPr marL="101600" marR="101600" marT="101600" marB="101600">
                    <a:lnL w="12700" cap="flat" cmpd="sng" algn="ctr">
                      <a:solidFill>
                        <a:srgbClr val="455267"/>
                      </a:solidFill>
                      <a:prstDash val="solid"/>
                      <a:round/>
                      <a:headEnd type="none" w="med" len="med"/>
                      <a:tailEnd type="none" w="med" len="med"/>
                    </a:lnL>
                    <a:lnR w="12700" cap="flat" cmpd="sng" algn="ctr">
                      <a:solidFill>
                        <a:srgbClr val="455267"/>
                      </a:solidFill>
                      <a:prstDash val="solid"/>
                      <a:round/>
                      <a:headEnd type="none" w="med" len="med"/>
                      <a:tailEnd type="none" w="med" len="med"/>
                    </a:lnR>
                    <a:lnT w="12700" cap="flat" cmpd="sng" algn="ctr">
                      <a:solidFill>
                        <a:srgbClr val="455267"/>
                      </a:solidFill>
                      <a:prstDash val="solid"/>
                      <a:round/>
                      <a:headEnd type="none" w="med" len="med"/>
                      <a:tailEnd type="none" w="med" len="med"/>
                    </a:lnT>
                    <a:lnB w="12700" cap="flat" cmpd="sng" algn="ctr">
                      <a:solidFill>
                        <a:srgbClr val="45526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6238241"/>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3</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Cấu trúc mã nguồn Python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320040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480060">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Tệp</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Nhiệm vụ</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7467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data_service.py</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Đọc CSV, tạo cột ngày, tính giá tham chiếu, sàn, trần; lập bảng thống kê</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7467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charts.py</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Vẽ biểu đồ cột, biểu đồ hộp, biểu đồ phân bố và lưu thành ảnh PNG</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7467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animate.py</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Làm video gồm biểu đồ nến và đường giá; hàm mau() chọn màu cho từng mức giá</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main.py</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Chạy toàn bộ chương trình</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89508" y="4950461"/>
            <a:ext cx="10799064" cy="30988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Video: 365 ngày × 7 mức giá = </a:t>
            </a:r>
            <a:r>
              <a:rPr lang="en-US" sz="1600" b="1" dirty="0">
                <a:solidFill>
                  <a:srgbClr val="14213D"/>
                </a:solidFill>
                <a:latin typeface="Arial" pitchFamily="34" charset="0"/>
                <a:ea typeface="Arial" pitchFamily="34" charset="-122"/>
                <a:cs typeface="Arial" pitchFamily="34" charset="-120"/>
              </a:rPr>
              <a:t>2 555 khung hình</a:t>
            </a:r>
            <a:r>
              <a:rPr lang="en-US" sz="1600" dirty="0">
                <a:solidFill>
                  <a:srgbClr val="14213D"/>
                </a:solidFill>
                <a:latin typeface="Arial" pitchFamily="34" charset="0"/>
                <a:ea typeface="Arial" pitchFamily="34" charset="-122"/>
                <a:cs typeface="Arial" pitchFamily="34" charset="-120"/>
              </a:rPr>
              <a:t>; chạy 21 khung hình/giây thì dài khoảng 2 phút.</a:t>
            </a:r>
            <a:endParaRPr lang="en-US" sz="1600" dirty="0"/>
          </a:p>
        </p:txBody>
      </p:sp>
      <p:sp>
        <p:nvSpPr>
          <p:cNvPr id="5" name="Text 2"/>
          <p:cNvSpPr/>
          <p:nvPr/>
        </p:nvSpPr>
        <p:spPr>
          <a:xfrm>
            <a:off x="812800" y="6238239"/>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4</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Giá trung bình theo tháng (nghìn đồng)</a:t>
            </a:r>
            <a:endParaRPr lang="en-US" sz="3000" dirty="0"/>
          </a:p>
        </p:txBody>
      </p:sp>
      <p:sp>
        <p:nvSpPr>
          <p:cNvPr id="3" name="Shape 1"/>
          <p:cNvSpPr/>
          <p:nvPr/>
        </p:nvSpPr>
        <p:spPr>
          <a:xfrm>
            <a:off x="812800" y="1485900"/>
            <a:ext cx="6015434" cy="3492500"/>
          </a:xfrm>
          <a:prstGeom prst="roundRect">
            <a:avLst>
              <a:gd name="adj" fmla="val 2182"/>
            </a:avLst>
          </a:prstGeom>
          <a:solidFill>
            <a:srgbClr val="FFFFFF"/>
          </a:solidFill>
          <a:ln/>
        </p:spPr>
      </p:sp>
      <p:pic>
        <p:nvPicPr>
          <p:cNvPr id="4" name="Image 0" descr="Biểu đồ cột giá trung bình mỗi tháng"/>
          <p:cNvPicPr>
            <a:picLocks noChangeAspect="1"/>
          </p:cNvPicPr>
          <p:nvPr/>
        </p:nvPicPr>
        <p:blipFill>
          <a:blip r:embed="rId3"/>
          <a:stretch>
            <a:fillRect/>
          </a:stretch>
        </p:blipFill>
        <p:spPr>
          <a:xfrm>
            <a:off x="812800" y="1561196"/>
            <a:ext cx="6015434" cy="3341908"/>
          </a:xfrm>
          <a:custGeom>
            <a:avLst/>
            <a:gdLst/>
            <a:ahLst/>
            <a:cxnLst/>
            <a:rect l="l" t="t" r="r" b="b"/>
            <a:pathLst>
              <a:path w="6015434" h="3341908">
                <a:moveTo>
                  <a:pt x="0" y="904"/>
                </a:moveTo>
                <a:arcTo wR="76200" hR="76200" stAng="10800000" swAng="40784"/>
                <a:lnTo>
                  <a:pt x="6015429" y="0"/>
                </a:lnTo>
                <a:arcTo wR="76200" hR="76200" stAng="21559216" swAng="40784"/>
                <a:lnTo>
                  <a:pt x="6015434" y="3341004"/>
                </a:lnTo>
                <a:arcTo wR="76200" hR="76200" stAng="0" swAng="40784"/>
                <a:lnTo>
                  <a:pt x="5" y="3341908"/>
                </a:lnTo>
                <a:arcTo wR="76200" hR="76200" stAng="10759216" swAng="40784"/>
                <a:close/>
              </a:path>
            </a:pathLst>
          </a:custGeom>
        </p:spPr>
      </p:pic>
      <p:sp>
        <p:nvSpPr>
          <p:cNvPr id="5" name="Text 2"/>
          <p:cNvSpPr/>
          <p:nvPr/>
        </p:nvSpPr>
        <p:spPr>
          <a:xfrm>
            <a:off x="7209742" y="2663189"/>
            <a:ext cx="4289223" cy="116332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Thấp nhất: </a:t>
            </a:r>
            <a:r>
              <a:rPr lang="en-US" sz="1600" b="1" dirty="0">
                <a:solidFill>
                  <a:srgbClr val="14213D"/>
                </a:solidFill>
                <a:latin typeface="Arial" pitchFamily="34" charset="0"/>
                <a:ea typeface="Arial" pitchFamily="34" charset="-122"/>
                <a:cs typeface="Arial" pitchFamily="34" charset="-120"/>
              </a:rPr>
              <a:t>tháng 2</a:t>
            </a:r>
            <a:r>
              <a:rPr lang="en-US" sz="1600" dirty="0">
                <a:solidFill>
                  <a:srgbClr val="14213D"/>
                </a:solidFill>
                <a:latin typeface="Arial" pitchFamily="34" charset="0"/>
                <a:ea typeface="Arial" pitchFamily="34" charset="-122"/>
                <a:cs typeface="Arial" pitchFamily="34" charset="-120"/>
              </a:rPr>
              <a:t> (6 341)</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Cao nhất: </a:t>
            </a:r>
            <a:r>
              <a:rPr lang="en-US" sz="1600" b="1" dirty="0">
                <a:solidFill>
                  <a:srgbClr val="14213D"/>
                </a:solidFill>
                <a:latin typeface="Arial" pitchFamily="34" charset="0"/>
                <a:ea typeface="Arial" pitchFamily="34" charset="-122"/>
                <a:cs typeface="Arial" pitchFamily="34" charset="-120"/>
              </a:rPr>
              <a:t>tháng 9</a:t>
            </a:r>
            <a:r>
              <a:rPr lang="en-US" sz="1600" dirty="0">
                <a:solidFill>
                  <a:srgbClr val="14213D"/>
                </a:solidFill>
                <a:latin typeface="Arial" pitchFamily="34" charset="0"/>
                <a:ea typeface="Arial" pitchFamily="34" charset="-122"/>
                <a:cs typeface="Arial" pitchFamily="34" charset="-120"/>
              </a:rPr>
              <a:t> (55 749)</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Từ tháng 10 giảm: 44 674 → 27 797 → 28 252</a:t>
            </a:r>
            <a:endParaRPr lang="en-US" sz="1600" dirty="0"/>
          </a:p>
        </p:txBody>
      </p:sp>
      <p:sp>
        <p:nvSpPr>
          <p:cNvPr id="6" name="Text 3"/>
          <p:cNvSpPr/>
          <p:nvPr/>
        </p:nvSpPr>
        <p:spPr>
          <a:xfrm>
            <a:off x="812800" y="6238239"/>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5</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Phân bố giá mỗi tháng (biểu đồ hộp)</a:t>
            </a:r>
            <a:endParaRPr lang="en-US" sz="3000" dirty="0"/>
          </a:p>
        </p:txBody>
      </p:sp>
      <p:sp>
        <p:nvSpPr>
          <p:cNvPr id="3" name="Shape 1"/>
          <p:cNvSpPr/>
          <p:nvPr/>
        </p:nvSpPr>
        <p:spPr>
          <a:xfrm>
            <a:off x="812800" y="1485900"/>
            <a:ext cx="5636339" cy="3492500"/>
          </a:xfrm>
          <a:prstGeom prst="roundRect">
            <a:avLst>
              <a:gd name="adj" fmla="val 2182"/>
            </a:avLst>
          </a:prstGeom>
          <a:solidFill>
            <a:srgbClr val="FFFFFF"/>
          </a:solidFill>
          <a:ln/>
        </p:spPr>
      </p:sp>
      <p:pic>
        <p:nvPicPr>
          <p:cNvPr id="4" name="Image 0" descr="Biểu đồ hộp phân bố giá theo tháng"/>
          <p:cNvPicPr>
            <a:picLocks noChangeAspect="1"/>
          </p:cNvPicPr>
          <p:nvPr/>
        </p:nvPicPr>
        <p:blipFill>
          <a:blip r:embed="rId3"/>
          <a:stretch>
            <a:fillRect/>
          </a:stretch>
        </p:blipFill>
        <p:spPr>
          <a:xfrm>
            <a:off x="812800" y="1666500"/>
            <a:ext cx="5636339" cy="3131300"/>
          </a:xfrm>
          <a:prstGeom prst="rect">
            <a:avLst/>
          </a:prstGeom>
        </p:spPr>
      </p:pic>
      <p:sp>
        <p:nvSpPr>
          <p:cNvPr id="5" name="Text 2"/>
          <p:cNvSpPr/>
          <p:nvPr/>
        </p:nvSpPr>
        <p:spPr>
          <a:xfrm>
            <a:off x="6830648" y="2520950"/>
            <a:ext cx="4679691" cy="144780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b="1" dirty="0">
                <a:solidFill>
                  <a:srgbClr val="14213D"/>
                </a:solidFill>
                <a:latin typeface="Arial" pitchFamily="34" charset="0"/>
                <a:ea typeface="Arial" pitchFamily="34" charset="-122"/>
                <a:cs typeface="Arial" pitchFamily="34" charset="-120"/>
              </a:rPr>
              <a:t>Vạch cam</a:t>
            </a:r>
            <a:r>
              <a:rPr lang="en-US" sz="1600" dirty="0">
                <a:solidFill>
                  <a:srgbClr val="14213D"/>
                </a:solidFill>
                <a:latin typeface="Arial" pitchFamily="34" charset="0"/>
                <a:ea typeface="Arial" pitchFamily="34" charset="-122"/>
                <a:cs typeface="Arial" pitchFamily="34" charset="-120"/>
              </a:rPr>
              <a:t>: trung vị.</a:t>
            </a:r>
            <a:endParaRPr lang="en-US" sz="1600" dirty="0"/>
          </a:p>
          <a:p>
            <a:pPr marL="177292" indent="-177292" algn="l">
              <a:lnSpc>
                <a:spcPts val="2240"/>
              </a:lnSpc>
              <a:buSzPct val="100000"/>
              <a:buChar char="•"/>
            </a:pPr>
            <a:r>
              <a:rPr lang="en-US" sz="1600" b="1" dirty="0">
                <a:solidFill>
                  <a:srgbClr val="14213D"/>
                </a:solidFill>
                <a:latin typeface="Arial" pitchFamily="34" charset="0"/>
                <a:ea typeface="Arial" pitchFamily="34" charset="-122"/>
                <a:cs typeface="Arial" pitchFamily="34" charset="-120"/>
              </a:rPr>
              <a:t>Hộp</a:t>
            </a:r>
            <a:r>
              <a:rPr lang="en-US" sz="1600" dirty="0">
                <a:solidFill>
                  <a:srgbClr val="14213D"/>
                </a:solidFill>
                <a:latin typeface="Arial" pitchFamily="34" charset="0"/>
                <a:ea typeface="Arial" pitchFamily="34" charset="-122"/>
                <a:cs typeface="Arial" pitchFamily="34" charset="-120"/>
              </a:rPr>
              <a:t>: 50% số ngày ở giữa.</a:t>
            </a:r>
            <a:endParaRPr lang="en-US" sz="1600" dirty="0"/>
          </a:p>
          <a:p>
            <a:pPr marL="177292" indent="-177292" algn="l">
              <a:lnSpc>
                <a:spcPts val="2240"/>
              </a:lnSpc>
              <a:buSzPct val="100000"/>
              <a:buChar char="•"/>
            </a:pPr>
            <a:r>
              <a:rPr lang="en-US" sz="1600" b="1" dirty="0">
                <a:solidFill>
                  <a:srgbClr val="14213D"/>
                </a:solidFill>
                <a:latin typeface="Arial" pitchFamily="34" charset="0"/>
                <a:ea typeface="Arial" pitchFamily="34" charset="-122"/>
                <a:cs typeface="Arial" pitchFamily="34" charset="-120"/>
              </a:rPr>
              <a:t>Râu</a:t>
            </a:r>
            <a:r>
              <a:rPr lang="en-US" sz="1600" dirty="0">
                <a:solidFill>
                  <a:srgbClr val="14213D"/>
                </a:solidFill>
                <a:latin typeface="Arial" pitchFamily="34" charset="0"/>
                <a:ea typeface="Arial" pitchFamily="34" charset="-122"/>
                <a:cs typeface="Arial" pitchFamily="34" charset="-120"/>
              </a:rPr>
              <a:t>: mức giá thông thường.</a:t>
            </a:r>
            <a:endParaRPr lang="en-US" sz="1600" dirty="0"/>
          </a:p>
          <a:p>
            <a:pPr marL="177292" indent="-177292" algn="l">
              <a:lnSpc>
                <a:spcPts val="2240"/>
              </a:lnSpc>
              <a:buSzPct val="100000"/>
              <a:buChar char="•"/>
            </a:pPr>
            <a:r>
              <a:rPr lang="en-US" sz="1600" b="1" dirty="0">
                <a:solidFill>
                  <a:srgbClr val="14213D"/>
                </a:solidFill>
                <a:latin typeface="Arial" pitchFamily="34" charset="0"/>
                <a:ea typeface="Arial" pitchFamily="34" charset="-122"/>
                <a:cs typeface="Arial" pitchFamily="34" charset="-120"/>
              </a:rPr>
              <a:t>Chấm tròn</a:t>
            </a:r>
            <a:r>
              <a:rPr lang="en-US" sz="1600" dirty="0">
                <a:solidFill>
                  <a:srgbClr val="14213D"/>
                </a:solidFill>
                <a:latin typeface="Arial" pitchFamily="34" charset="0"/>
                <a:ea typeface="Arial" pitchFamily="34" charset="-122"/>
                <a:cs typeface="Arial" pitchFamily="34" charset="-120"/>
              </a:rPr>
              <a:t>: giá ngoại lai (tháng 8 có 2, tháng 10 có 1).</a:t>
            </a:r>
            <a:endParaRPr lang="en-US" sz="1600" dirty="0"/>
          </a:p>
        </p:txBody>
      </p:sp>
      <p:sp>
        <p:nvSpPr>
          <p:cNvPr id="6" name="Text 3"/>
          <p:cNvSpPr/>
          <p:nvPr/>
        </p:nvSpPr>
        <p:spPr>
          <a:xfrm>
            <a:off x="812800" y="6238239"/>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6</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8743B"/>
                </a:solidFill>
                <a:latin typeface="Arial" pitchFamily="34" charset="0"/>
                <a:ea typeface="Arial" pitchFamily="34" charset="-122"/>
                <a:cs typeface="Arial" pitchFamily="34" charset="-120"/>
              </a:rPr>
              <a:t>Biểu đồ hộp: mức phân tán theo tháng</a:t>
            </a:r>
            <a:endParaRPr lang="en-US" sz="3000" dirty="0"/>
          </a:p>
        </p:txBody>
      </p:sp>
      <p:sp>
        <p:nvSpPr>
          <p:cNvPr id="3" name="Shape 1"/>
          <p:cNvSpPr/>
          <p:nvPr/>
        </p:nvSpPr>
        <p:spPr>
          <a:xfrm>
            <a:off x="815975" y="1489075"/>
            <a:ext cx="3380264" cy="1637030"/>
          </a:xfrm>
          <a:prstGeom prst="roundRect">
            <a:avLst>
              <a:gd name="adj" fmla="val 6012"/>
            </a:avLst>
          </a:prstGeom>
          <a:solidFill>
            <a:srgbClr val="1D3358"/>
          </a:solidFill>
          <a:ln w="6350">
            <a:solidFill>
              <a:srgbClr val="2C4A7A"/>
            </a:solidFill>
            <a:prstDash val="solid"/>
          </a:ln>
        </p:spPr>
      </p:sp>
      <p:sp>
        <p:nvSpPr>
          <p:cNvPr id="4" name="Text 2"/>
          <p:cNvSpPr/>
          <p:nvPr/>
        </p:nvSpPr>
        <p:spPr>
          <a:xfrm>
            <a:off x="1046480" y="1719582"/>
            <a:ext cx="3006831"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11 474</a:t>
            </a:r>
            <a:endParaRPr lang="en-US" sz="3400" dirty="0"/>
          </a:p>
        </p:txBody>
      </p:sp>
      <p:sp>
        <p:nvSpPr>
          <p:cNvPr id="5" name="Text 3"/>
          <p:cNvSpPr/>
          <p:nvPr/>
        </p:nvSpPr>
        <p:spPr>
          <a:xfrm>
            <a:off x="1046480" y="2400300"/>
            <a:ext cx="3006831"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Độ lệch chuẩn lớn nhất: tháng 9</a:t>
            </a:r>
            <a:endParaRPr lang="en-US" sz="1500" dirty="0"/>
          </a:p>
        </p:txBody>
      </p:sp>
      <p:sp>
        <p:nvSpPr>
          <p:cNvPr id="6" name="Shape 4"/>
          <p:cNvSpPr/>
          <p:nvPr/>
        </p:nvSpPr>
        <p:spPr>
          <a:xfrm>
            <a:off x="4405789" y="1489075"/>
            <a:ext cx="3380343" cy="1637030"/>
          </a:xfrm>
          <a:prstGeom prst="roundRect">
            <a:avLst>
              <a:gd name="adj" fmla="val 6012"/>
            </a:avLst>
          </a:prstGeom>
          <a:solidFill>
            <a:srgbClr val="1D3358"/>
          </a:solidFill>
          <a:ln w="6350">
            <a:solidFill>
              <a:srgbClr val="2C4A7A"/>
            </a:solidFill>
            <a:prstDash val="solid"/>
          </a:ln>
        </p:spPr>
      </p:sp>
      <p:sp>
        <p:nvSpPr>
          <p:cNvPr id="7" name="Text 5"/>
          <p:cNvSpPr/>
          <p:nvPr/>
        </p:nvSpPr>
        <p:spPr>
          <a:xfrm>
            <a:off x="4636294" y="1719582"/>
            <a:ext cx="3006913"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6FB1FF"/>
                </a:solidFill>
                <a:latin typeface="Arial" pitchFamily="34" charset="0"/>
                <a:ea typeface="Arial" pitchFamily="34" charset="-122"/>
                <a:cs typeface="Arial" pitchFamily="34" charset="-120"/>
              </a:rPr>
              <a:t>≈ 830</a:t>
            </a:r>
            <a:endParaRPr lang="en-US" sz="3400" dirty="0"/>
          </a:p>
        </p:txBody>
      </p:sp>
      <p:sp>
        <p:nvSpPr>
          <p:cNvPr id="8" name="Text 6"/>
          <p:cNvSpPr/>
          <p:nvPr/>
        </p:nvSpPr>
        <p:spPr>
          <a:xfrm>
            <a:off x="4636294" y="2400300"/>
            <a:ext cx="3006913"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Nhỏ nhất: tháng 2 (828) và tháng 4 (834)</a:t>
            </a:r>
            <a:endParaRPr lang="en-US" sz="1500" dirty="0"/>
          </a:p>
        </p:txBody>
      </p:sp>
      <p:sp>
        <p:nvSpPr>
          <p:cNvPr id="9" name="Shape 7"/>
          <p:cNvSpPr/>
          <p:nvPr/>
        </p:nvSpPr>
        <p:spPr>
          <a:xfrm>
            <a:off x="7995682" y="1489075"/>
            <a:ext cx="3380343" cy="1637030"/>
          </a:xfrm>
          <a:prstGeom prst="roundRect">
            <a:avLst>
              <a:gd name="adj" fmla="val 6012"/>
            </a:avLst>
          </a:prstGeom>
          <a:solidFill>
            <a:srgbClr val="1D3358"/>
          </a:solidFill>
          <a:ln w="6350">
            <a:solidFill>
              <a:srgbClr val="2C4A7A"/>
            </a:solidFill>
            <a:prstDash val="solid"/>
          </a:ln>
        </p:spPr>
      </p:sp>
      <p:sp>
        <p:nvSpPr>
          <p:cNvPr id="10" name="Text 8"/>
          <p:cNvSpPr/>
          <p:nvPr/>
        </p:nvSpPr>
        <p:spPr>
          <a:xfrm>
            <a:off x="8226187" y="1719582"/>
            <a:ext cx="3006913"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55 461</a:t>
            </a:r>
            <a:endParaRPr lang="en-US" sz="3400" dirty="0"/>
          </a:p>
        </p:txBody>
      </p:sp>
      <p:sp>
        <p:nvSpPr>
          <p:cNvPr id="11" name="Text 9"/>
          <p:cNvSpPr/>
          <p:nvPr/>
        </p:nvSpPr>
        <p:spPr>
          <a:xfrm>
            <a:off x="8226187" y="2400300"/>
            <a:ext cx="3006913"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Biên độ lớn nhất: tháng 9 (89 988 trừ 34 527)</a:t>
            </a:r>
            <a:endParaRPr lang="en-US" sz="1500" dirty="0"/>
          </a:p>
        </p:txBody>
      </p:sp>
      <p:sp>
        <p:nvSpPr>
          <p:cNvPr id="12" name="Text 10"/>
          <p:cNvSpPr/>
          <p:nvPr/>
        </p:nvSpPr>
        <p:spPr>
          <a:xfrm>
            <a:off x="889508" y="3383282"/>
            <a:ext cx="10799064" cy="87884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Hộp tháng 9 cao và rộng nhất: từ khoảng 47 200 đến 62 600, trung vị khoảng 52 500.</a:t>
            </a:r>
            <a:endParaRPr lang="en-US" sz="1600" dirty="0"/>
          </a:p>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Tháng 8 có 2 điểm ngoại lai, tháng 10 có 1 điểm.</a:t>
            </a:r>
            <a:endParaRPr lang="en-US" sz="1600" dirty="0"/>
          </a:p>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Hộp tháng 2 và tháng 4 rất hẹp: giá ổn định.</a:t>
            </a:r>
            <a:endParaRPr lang="en-US" sz="1600" dirty="0"/>
          </a:p>
        </p:txBody>
      </p:sp>
      <p:sp>
        <p:nvSpPr>
          <p:cNvPr id="13" name="Text 11"/>
          <p:cNvSpPr/>
          <p:nvPr/>
        </p:nvSpPr>
        <p:spPr>
          <a:xfrm>
            <a:off x="812800" y="6238239"/>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6</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heel(1)">
                                      <p:cBhvr>
                                        <p:cTn id="10" dur="2000"/>
                                        <p:tgtEl>
                                          <p:spTgt spid="4"/>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par>
                                <p:cTn id="14" presetID="21" presetClass="entr" presetSubtype="1"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heel(1)">
                                      <p:cBhvr>
                                        <p:cTn id="16" dur="2000"/>
                                        <p:tgtEl>
                                          <p:spTgt spid="6"/>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heel(1)">
                                      <p:cBhvr>
                                        <p:cTn id="22" dur="2000"/>
                                        <p:tgtEl>
                                          <p:spTgt spid="8"/>
                                        </p:tgtEl>
                                      </p:cBhvr>
                                    </p:animEffect>
                                  </p:childTnLst>
                                </p:cTn>
                              </p:par>
                              <p:par>
                                <p:cTn id="23" presetID="21" presetClass="entr" presetSubtype="1"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heel(1)">
                                      <p:cBhvr>
                                        <p:cTn id="25" dur="2000"/>
                                        <p:tgtEl>
                                          <p:spTgt spid="9"/>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heel(1)">
                                      <p:cBhvr>
                                        <p:cTn id="28" dur="2000"/>
                                        <p:tgtEl>
                                          <p:spTgt spid="10"/>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heel(1)">
                                      <p:cBhvr>
                                        <p:cTn id="31" dur="20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Biến động giá theo quý</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2400300"/>
        </p:xfrm>
        <a:graphic>
          <a:graphicData uri="http://schemas.openxmlformats.org/drawingml/2006/table">
            <a:tbl>
              <a:tblPr/>
              <a:tblGrid>
                <a:gridCol w="2111248">
                  <a:extLst>
                    <a:ext uri="{9D8B030D-6E8A-4147-A177-3AD203B41FA5}">
                      <a16:colId xmlns:a16="http://schemas.microsoft.com/office/drawing/2014/main" val="20000"/>
                    </a:ext>
                  </a:extLst>
                </a:gridCol>
                <a:gridCol w="2111248">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gridCol w="2111248">
                  <a:extLst>
                    <a:ext uri="{9D8B030D-6E8A-4147-A177-3AD203B41FA5}">
                      <a16:colId xmlns:a16="http://schemas.microsoft.com/office/drawing/2014/main" val="20004"/>
                    </a:ext>
                  </a:extLst>
                </a:gridCol>
              </a:tblGrid>
              <a:tr h="480060">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Quý</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Giá trung bình</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Độ lệch chuẩn</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Biên độ</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Thay đổi trong quý</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Quý 1</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8 060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2 183</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11 044</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+32,2%</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Quý 2</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13 438</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2 385</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13 600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+22,7%</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Quý 3</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37 652</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16 177</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75 391</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+186,2%</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Quý 4</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33 637</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8 795</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35 603</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−48,3%</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89508" y="4150364"/>
            <a:ext cx="10799064" cy="30988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Quý 1 và 2: tăng chậm, ổn định. </a:t>
            </a:r>
            <a:r>
              <a:rPr lang="en-US" sz="1600" b="1" dirty="0">
                <a:solidFill>
                  <a:srgbClr val="14213D"/>
                </a:solidFill>
                <a:latin typeface="Arial" pitchFamily="34" charset="0"/>
                <a:ea typeface="Arial" pitchFamily="34" charset="-122"/>
                <a:cs typeface="Arial" pitchFamily="34" charset="-120"/>
              </a:rPr>
              <a:t>Quý 3: bùng nổ</a:t>
            </a:r>
            <a:r>
              <a:rPr lang="en-US" sz="1600" dirty="0">
                <a:solidFill>
                  <a:srgbClr val="14213D"/>
                </a:solidFill>
                <a:latin typeface="Arial" pitchFamily="34" charset="0"/>
                <a:ea typeface="Arial" pitchFamily="34" charset="-122"/>
                <a:cs typeface="Arial" pitchFamily="34" charset="-120"/>
              </a:rPr>
              <a:t>, đỉnh cả năm nằm ở đây. Quý 4: điều chỉnh giảm.</a:t>
            </a:r>
            <a:endParaRPr lang="en-US" sz="1600" dirty="0"/>
          </a:p>
        </p:txBody>
      </p:sp>
      <p:sp>
        <p:nvSpPr>
          <p:cNvPr id="5" name="Text 2"/>
          <p:cNvSpPr/>
          <p:nvPr/>
        </p:nvSpPr>
        <p:spPr>
          <a:xfrm>
            <a:off x="812800" y="6238242"/>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7</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8743B"/>
                </a:solidFill>
                <a:latin typeface="Arial" pitchFamily="34" charset="0"/>
                <a:ea typeface="Arial" pitchFamily="34" charset="-122"/>
                <a:cs typeface="Arial" pitchFamily="34" charset="-120"/>
              </a:rPr>
              <a:t>Các ngày giao dịch bất thường</a:t>
            </a:r>
            <a:endParaRPr lang="en-US" sz="3000" dirty="0"/>
          </a:p>
        </p:txBody>
      </p:sp>
      <p:sp>
        <p:nvSpPr>
          <p:cNvPr id="3" name="Shape 1"/>
          <p:cNvSpPr/>
          <p:nvPr/>
        </p:nvSpPr>
        <p:spPr>
          <a:xfrm>
            <a:off x="815975" y="1489075"/>
            <a:ext cx="3380264" cy="1389380"/>
          </a:xfrm>
          <a:prstGeom prst="roundRect">
            <a:avLst>
              <a:gd name="adj" fmla="val 7084"/>
            </a:avLst>
          </a:prstGeom>
          <a:solidFill>
            <a:srgbClr val="1D3358"/>
          </a:solidFill>
          <a:ln w="6350">
            <a:solidFill>
              <a:srgbClr val="2C4A7A"/>
            </a:solidFill>
            <a:prstDash val="solid"/>
          </a:ln>
        </p:spPr>
      </p:sp>
      <p:sp>
        <p:nvSpPr>
          <p:cNvPr id="4" name="Text 2"/>
          <p:cNvSpPr/>
          <p:nvPr/>
        </p:nvSpPr>
        <p:spPr>
          <a:xfrm>
            <a:off x="1046480" y="1719579"/>
            <a:ext cx="3006831"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219</a:t>
            </a:r>
            <a:endParaRPr lang="en-US" sz="3400" dirty="0"/>
          </a:p>
        </p:txBody>
      </p:sp>
      <p:sp>
        <p:nvSpPr>
          <p:cNvPr id="5" name="Text 3"/>
          <p:cNvSpPr/>
          <p:nvPr/>
        </p:nvSpPr>
        <p:spPr>
          <a:xfrm>
            <a:off x="1046480" y="2400300"/>
            <a:ext cx="3006831"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ngày bất thường (khoảng 60%)</a:t>
            </a:r>
            <a:endParaRPr lang="en-US" sz="1500" dirty="0"/>
          </a:p>
        </p:txBody>
      </p:sp>
      <p:sp>
        <p:nvSpPr>
          <p:cNvPr id="6" name="Shape 4"/>
          <p:cNvSpPr/>
          <p:nvPr/>
        </p:nvSpPr>
        <p:spPr>
          <a:xfrm>
            <a:off x="4405789" y="1489075"/>
            <a:ext cx="3380343" cy="1389380"/>
          </a:xfrm>
          <a:prstGeom prst="roundRect">
            <a:avLst>
              <a:gd name="adj" fmla="val 7084"/>
            </a:avLst>
          </a:prstGeom>
          <a:solidFill>
            <a:srgbClr val="1D3358"/>
          </a:solidFill>
          <a:ln w="6350">
            <a:solidFill>
              <a:srgbClr val="2C4A7A"/>
            </a:solidFill>
            <a:prstDash val="solid"/>
          </a:ln>
        </p:spPr>
      </p:sp>
      <p:sp>
        <p:nvSpPr>
          <p:cNvPr id="7" name="Text 5"/>
          <p:cNvSpPr/>
          <p:nvPr/>
        </p:nvSpPr>
        <p:spPr>
          <a:xfrm>
            <a:off x="4636294" y="1719579"/>
            <a:ext cx="3006913"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6FB1FF"/>
                </a:solidFill>
                <a:latin typeface="Arial" pitchFamily="34" charset="0"/>
                <a:ea typeface="Arial" pitchFamily="34" charset="-122"/>
                <a:cs typeface="Arial" pitchFamily="34" charset="-120"/>
              </a:rPr>
              <a:t>95</a:t>
            </a:r>
            <a:endParaRPr lang="en-US" sz="3400" dirty="0"/>
          </a:p>
        </p:txBody>
      </p:sp>
      <p:sp>
        <p:nvSpPr>
          <p:cNvPr id="8" name="Text 6"/>
          <p:cNvSpPr/>
          <p:nvPr/>
        </p:nvSpPr>
        <p:spPr>
          <a:xfrm>
            <a:off x="4636294" y="2400300"/>
            <a:ext cx="3006913"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ngày đóng cửa ở giá sàn</a:t>
            </a:r>
            <a:endParaRPr lang="en-US" sz="1500" dirty="0"/>
          </a:p>
        </p:txBody>
      </p:sp>
      <p:sp>
        <p:nvSpPr>
          <p:cNvPr id="9" name="Shape 7"/>
          <p:cNvSpPr/>
          <p:nvPr/>
        </p:nvSpPr>
        <p:spPr>
          <a:xfrm>
            <a:off x="7995682" y="1489075"/>
            <a:ext cx="3380343" cy="1389380"/>
          </a:xfrm>
          <a:prstGeom prst="roundRect">
            <a:avLst>
              <a:gd name="adj" fmla="val 7084"/>
            </a:avLst>
          </a:prstGeom>
          <a:solidFill>
            <a:srgbClr val="1D3358"/>
          </a:solidFill>
          <a:ln w="6350">
            <a:solidFill>
              <a:srgbClr val="2C4A7A"/>
            </a:solidFill>
            <a:prstDash val="solid"/>
          </a:ln>
        </p:spPr>
      </p:sp>
      <p:sp>
        <p:nvSpPr>
          <p:cNvPr id="10" name="Text 8"/>
          <p:cNvSpPr/>
          <p:nvPr/>
        </p:nvSpPr>
        <p:spPr>
          <a:xfrm>
            <a:off x="8226187" y="1719579"/>
            <a:ext cx="3006913"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C9A0FF"/>
                </a:solidFill>
                <a:latin typeface="Arial" pitchFamily="34" charset="0"/>
                <a:ea typeface="Arial" pitchFamily="34" charset="-122"/>
                <a:cs typeface="Arial" pitchFamily="34" charset="-120"/>
              </a:rPr>
              <a:t>124</a:t>
            </a:r>
            <a:endParaRPr lang="en-US" sz="3400" dirty="0"/>
          </a:p>
        </p:txBody>
      </p:sp>
      <p:sp>
        <p:nvSpPr>
          <p:cNvPr id="11" name="Text 9"/>
          <p:cNvSpPr/>
          <p:nvPr/>
        </p:nvSpPr>
        <p:spPr>
          <a:xfrm>
            <a:off x="8226187" y="2400300"/>
            <a:ext cx="3006913"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5F3EC"/>
                </a:solidFill>
                <a:latin typeface="Arial" pitchFamily="34" charset="0"/>
                <a:ea typeface="Arial" pitchFamily="34" charset="-122"/>
                <a:cs typeface="Arial" pitchFamily="34" charset="-120"/>
              </a:rPr>
              <a:t>ngày đóng cửa ở giá trần</a:t>
            </a:r>
            <a:endParaRPr lang="en-US" sz="1500" dirty="0"/>
          </a:p>
        </p:txBody>
      </p:sp>
      <p:sp>
        <p:nvSpPr>
          <p:cNvPr id="12" name="Text 10"/>
          <p:cNvSpPr/>
          <p:nvPr/>
        </p:nvSpPr>
        <p:spPr>
          <a:xfrm>
            <a:off x="889508" y="3135629"/>
            <a:ext cx="10799064" cy="116332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Ngày bất thường: đóng cửa bằng sàn, bằng trần hoặc bằng tham chiếu, hoặc cả phiên nằm ở sàn hay trần.</a:t>
            </a:r>
            <a:endParaRPr lang="en-US" sz="1600" dirty="0"/>
          </a:p>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Không có ngày nào đóng cửa đúng bằng giá tham chiếu.</a:t>
            </a:r>
            <a:endParaRPr lang="en-US" sz="1600" dirty="0"/>
          </a:p>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Không có ngày nào cả 7 mức giá cùng chạm sàn hoặc trần.</a:t>
            </a:r>
            <a:endParaRPr lang="en-US" sz="1600" dirty="0"/>
          </a:p>
          <a:p>
            <a:pPr marL="177292" indent="-177292" algn="l">
              <a:lnSpc>
                <a:spcPts val="2240"/>
              </a:lnSpc>
              <a:buSzPct val="100000"/>
              <a:buChar char="•"/>
            </a:pPr>
            <a:r>
              <a:rPr lang="en-US" sz="1600" dirty="0">
                <a:solidFill>
                  <a:srgbClr val="F5F3EC"/>
                </a:solidFill>
                <a:latin typeface="Arial" pitchFamily="34" charset="0"/>
                <a:ea typeface="Arial" pitchFamily="34" charset="-122"/>
                <a:cs typeface="Arial" pitchFamily="34" charset="-120"/>
              </a:rPr>
              <a:t>Bảng trong báo cáo chỉ in 15 dòng đầu.</a:t>
            </a:r>
            <a:endParaRPr lang="en-US" sz="1600" dirty="0"/>
          </a:p>
        </p:txBody>
      </p:sp>
      <p:sp>
        <p:nvSpPr>
          <p:cNvPr id="13" name="Text 11"/>
          <p:cNvSpPr/>
          <p:nvPr/>
        </p:nvSpPr>
        <p:spPr>
          <a:xfrm>
            <a:off x="812800" y="6238242"/>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8</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par>
                                <p:cTn id="23" presetID="14" presetClass="entr" presetSubtype="1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randombar(horizontal)">
                                      <p:cBhvr>
                                        <p:cTn id="25" dur="500"/>
                                        <p:tgtEl>
                                          <p:spTgt spid="9"/>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randombar(horizontal)">
                                      <p:cBhvr>
                                        <p:cTn id="28" dur="500"/>
                                        <p:tgtEl>
                                          <p:spTgt spid="10"/>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randombar(horizontal)">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Phân bố giá: nửa đầu và nửa cuối năm</a:t>
            </a:r>
            <a:endParaRPr lang="en-US" sz="3000" dirty="0"/>
          </a:p>
        </p:txBody>
      </p:sp>
      <p:sp>
        <p:nvSpPr>
          <p:cNvPr id="3" name="Shape 1"/>
          <p:cNvSpPr/>
          <p:nvPr/>
        </p:nvSpPr>
        <p:spPr>
          <a:xfrm>
            <a:off x="812800" y="1485900"/>
            <a:ext cx="5960904" cy="2876550"/>
          </a:xfrm>
          <a:prstGeom prst="roundRect">
            <a:avLst>
              <a:gd name="adj" fmla="val 2649"/>
            </a:avLst>
          </a:prstGeom>
          <a:solidFill>
            <a:srgbClr val="FFFFFF"/>
          </a:solidFill>
          <a:ln/>
        </p:spPr>
      </p:sp>
      <p:pic>
        <p:nvPicPr>
          <p:cNvPr id="4" name="Image 0" descr="Biểu đồ phân bố giá quý 1-2 (xanh) và quý 3-4 (đỏ)"/>
          <p:cNvPicPr>
            <a:picLocks noChangeAspect="1"/>
          </p:cNvPicPr>
          <p:nvPr/>
        </p:nvPicPr>
        <p:blipFill>
          <a:blip r:embed="rId3"/>
          <a:stretch>
            <a:fillRect/>
          </a:stretch>
        </p:blipFill>
        <p:spPr>
          <a:xfrm>
            <a:off x="812800" y="1717601"/>
            <a:ext cx="5960904" cy="2438552"/>
          </a:xfrm>
          <a:prstGeom prst="rect">
            <a:avLst/>
          </a:prstGeom>
        </p:spPr>
      </p:pic>
      <p:sp>
        <p:nvSpPr>
          <p:cNvPr id="5" name="Text 2"/>
          <p:cNvSpPr/>
          <p:nvPr/>
        </p:nvSpPr>
        <p:spPr>
          <a:xfrm>
            <a:off x="7155212" y="2355217"/>
            <a:ext cx="4345389" cy="116332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b="1" dirty="0">
                <a:solidFill>
                  <a:srgbClr val="14213D"/>
                </a:solidFill>
                <a:latin typeface="Arial" pitchFamily="34" charset="0"/>
                <a:ea typeface="Arial" pitchFamily="34" charset="-122"/>
                <a:cs typeface="Arial" pitchFamily="34" charset="-120"/>
              </a:rPr>
              <a:t>Trái (xanh)</a:t>
            </a:r>
            <a:r>
              <a:rPr lang="en-US" sz="1600" dirty="0">
                <a:solidFill>
                  <a:srgbClr val="14213D"/>
                </a:solidFill>
                <a:latin typeface="Arial" pitchFamily="34" charset="0"/>
                <a:ea typeface="Arial" pitchFamily="34" charset="-122"/>
                <a:cs typeface="Arial" pitchFamily="34" charset="-120"/>
              </a:rPr>
              <a:t>: nửa đầu, giá tập trung ở vùng thấp.</a:t>
            </a:r>
            <a:endParaRPr lang="en-US" sz="1600" dirty="0"/>
          </a:p>
          <a:p>
            <a:pPr marL="177292" indent="-177292" algn="l">
              <a:lnSpc>
                <a:spcPts val="2240"/>
              </a:lnSpc>
              <a:buSzPct val="100000"/>
              <a:buChar char="•"/>
            </a:pPr>
            <a:r>
              <a:rPr lang="en-US" sz="1600" b="1" dirty="0">
                <a:solidFill>
                  <a:srgbClr val="14213D"/>
                </a:solidFill>
                <a:latin typeface="Arial" pitchFamily="34" charset="0"/>
                <a:ea typeface="Arial" pitchFamily="34" charset="-122"/>
                <a:cs typeface="Arial" pitchFamily="34" charset="-120"/>
              </a:rPr>
              <a:t>Phải (đỏ)</a:t>
            </a:r>
            <a:r>
              <a:rPr lang="en-US" sz="1600" dirty="0">
                <a:solidFill>
                  <a:srgbClr val="14213D"/>
                </a:solidFill>
                <a:latin typeface="Arial" pitchFamily="34" charset="0"/>
                <a:ea typeface="Arial" pitchFamily="34" charset="-122"/>
                <a:cs typeface="Arial" pitchFamily="34" charset="-120"/>
              </a:rPr>
              <a:t>: nửa cuối, dịch sang phải và trải rộng hơn.</a:t>
            </a:r>
            <a:endParaRPr lang="en-US" sz="1600" dirty="0"/>
          </a:p>
        </p:txBody>
      </p:sp>
      <p:sp>
        <p:nvSpPr>
          <p:cNvPr id="6" name="Text 3"/>
          <p:cNvSpPr/>
          <p:nvPr/>
        </p:nvSpPr>
        <p:spPr>
          <a:xfrm>
            <a:off x="812800" y="6238242"/>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9</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So sánh nửa đầu và nửa cuối năm</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1" cy="192024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480060">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Chỉ số</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Nửa đầu (quý 1–2)</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Nửa cuối (quý 3–4)</a:t>
                      </a:r>
                      <a:endParaRPr lang="en-US" sz="1500" dirty="0">
                        <a:latin typeface="Arial" charset="0"/>
                        <a:ea typeface="Arial" charset="0"/>
                        <a:cs typeface="Arial" charset="0"/>
                      </a:endParaRPr>
                    </a:p>
                  </a:txBody>
                  <a:tcPr marL="101600" marR="101600" marT="101600" marB="10160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Trung vị</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10 700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31 700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80% số quan sát nằm trong</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6 300 – 16 000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21 600 – 52 800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480060">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Giá trung bình</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10 800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35 600</a:t>
                      </a:r>
                      <a:endParaRPr lang="en-US" sz="1500" dirty="0">
                        <a:latin typeface="Arial" charset="0"/>
                        <a:ea typeface="Arial" charset="0"/>
                        <a:cs typeface="Arial" charset="0"/>
                      </a:endParaRPr>
                    </a:p>
                  </a:txBody>
                  <a:tcPr marL="101600" marR="101600" marT="101600" marB="10160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89508" y="3670300"/>
            <a:ext cx="10799064" cy="30988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Nửa cuối năm gấp </a:t>
            </a:r>
            <a:r>
              <a:rPr lang="en-US" sz="1600" b="1" dirty="0">
                <a:solidFill>
                  <a:srgbClr val="14213D"/>
                </a:solidFill>
                <a:latin typeface="Arial" pitchFamily="34" charset="0"/>
                <a:ea typeface="Arial" pitchFamily="34" charset="-122"/>
                <a:cs typeface="Arial" pitchFamily="34" charset="-120"/>
              </a:rPr>
              <a:t>hơn 3 lần</a:t>
            </a:r>
            <a:r>
              <a:rPr lang="en-US" sz="1600" dirty="0">
                <a:solidFill>
                  <a:srgbClr val="14213D"/>
                </a:solidFill>
                <a:latin typeface="Arial" pitchFamily="34" charset="0"/>
                <a:ea typeface="Arial" pitchFamily="34" charset="-122"/>
                <a:cs typeface="Arial" pitchFamily="34" charset="-120"/>
              </a:rPr>
              <a:t> nửa đầu, phân bố dịch sang phải và trải rộng hơn nhiều.</a:t>
            </a:r>
            <a:endParaRPr lang="en-US" sz="1600" dirty="0"/>
          </a:p>
        </p:txBody>
      </p:sp>
      <p:sp>
        <p:nvSpPr>
          <p:cNvPr id="5" name="Text 2"/>
          <p:cNvSpPr/>
          <p:nvPr/>
        </p:nvSpPr>
        <p:spPr>
          <a:xfrm>
            <a:off x="812800" y="6238242"/>
            <a:ext cx="25315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9</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Xu hướng giá cả năm</a:t>
            </a:r>
            <a:endParaRPr lang="en-US" sz="3000" dirty="0"/>
          </a:p>
        </p:txBody>
      </p:sp>
      <p:sp>
        <p:nvSpPr>
          <p:cNvPr id="3" name="Shape 1"/>
          <p:cNvSpPr/>
          <p:nvPr/>
        </p:nvSpPr>
        <p:spPr>
          <a:xfrm>
            <a:off x="815975" y="1489075"/>
            <a:ext cx="2482850" cy="1389380"/>
          </a:xfrm>
          <a:prstGeom prst="roundRect">
            <a:avLst>
              <a:gd name="adj" fmla="val 7084"/>
            </a:avLst>
          </a:prstGeom>
          <a:solidFill>
            <a:srgbClr val="FFFFFF"/>
          </a:solidFill>
          <a:ln w="6350">
            <a:solidFill>
              <a:srgbClr val="E0DCCF"/>
            </a:solidFill>
            <a:prstDash val="solid"/>
          </a:ln>
        </p:spPr>
      </p:sp>
      <p:sp>
        <p:nvSpPr>
          <p:cNvPr id="4" name="Text 2"/>
          <p:cNvSpPr/>
          <p:nvPr/>
        </p:nvSpPr>
        <p:spPr>
          <a:xfrm>
            <a:off x="1046480" y="1719579"/>
            <a:ext cx="2082495"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 10 000</a:t>
            </a:r>
            <a:endParaRPr lang="en-US" sz="3400" dirty="0"/>
          </a:p>
        </p:txBody>
      </p:sp>
      <p:sp>
        <p:nvSpPr>
          <p:cNvPr id="5" name="Text 3"/>
          <p:cNvSpPr/>
          <p:nvPr/>
        </p:nvSpPr>
        <p:spPr>
          <a:xfrm>
            <a:off x="1046480" y="2400300"/>
            <a:ext cx="208249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đầu năm</a:t>
            </a:r>
            <a:endParaRPr lang="en-US" sz="1500" dirty="0"/>
          </a:p>
        </p:txBody>
      </p:sp>
      <p:sp>
        <p:nvSpPr>
          <p:cNvPr id="6" name="Shape 4"/>
          <p:cNvSpPr/>
          <p:nvPr/>
        </p:nvSpPr>
        <p:spPr>
          <a:xfrm>
            <a:off x="3508375" y="1489075"/>
            <a:ext cx="2482850" cy="1389380"/>
          </a:xfrm>
          <a:prstGeom prst="roundRect">
            <a:avLst>
              <a:gd name="adj" fmla="val 7084"/>
            </a:avLst>
          </a:prstGeom>
          <a:solidFill>
            <a:srgbClr val="FFFFFF"/>
          </a:solidFill>
          <a:ln w="6350">
            <a:solidFill>
              <a:srgbClr val="E0DCCF"/>
            </a:solidFill>
            <a:prstDash val="solid"/>
          </a:ln>
        </p:spPr>
      </p:sp>
      <p:sp>
        <p:nvSpPr>
          <p:cNvPr id="7" name="Text 5"/>
          <p:cNvSpPr/>
          <p:nvPr/>
        </p:nvSpPr>
        <p:spPr>
          <a:xfrm>
            <a:off x="3738880" y="1719579"/>
            <a:ext cx="2082495"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2F6FDB"/>
                </a:solidFill>
                <a:latin typeface="Arial" pitchFamily="34" charset="0"/>
                <a:ea typeface="Arial" pitchFamily="34" charset="-122"/>
                <a:cs typeface="Arial" pitchFamily="34" charset="-120"/>
              </a:rPr>
              <a:t>4 333</a:t>
            </a:r>
            <a:endParaRPr lang="en-US" sz="3400" dirty="0"/>
          </a:p>
        </p:txBody>
      </p:sp>
      <p:sp>
        <p:nvSpPr>
          <p:cNvPr id="8" name="Text 6"/>
          <p:cNvSpPr/>
          <p:nvPr/>
        </p:nvSpPr>
        <p:spPr>
          <a:xfrm>
            <a:off x="3738880" y="2400300"/>
            <a:ext cx="208249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đáy, ngày 07/02/2025</a:t>
            </a:r>
            <a:endParaRPr lang="en-US" sz="1500" dirty="0"/>
          </a:p>
        </p:txBody>
      </p:sp>
      <p:sp>
        <p:nvSpPr>
          <p:cNvPr id="9" name="Shape 7"/>
          <p:cNvSpPr/>
          <p:nvPr/>
        </p:nvSpPr>
        <p:spPr>
          <a:xfrm>
            <a:off x="6200775" y="1489075"/>
            <a:ext cx="2482850" cy="1389380"/>
          </a:xfrm>
          <a:prstGeom prst="roundRect">
            <a:avLst>
              <a:gd name="adj" fmla="val 7084"/>
            </a:avLst>
          </a:prstGeom>
          <a:solidFill>
            <a:srgbClr val="FFFFFF"/>
          </a:solidFill>
          <a:ln w="6350">
            <a:solidFill>
              <a:srgbClr val="E0DCCF"/>
            </a:solidFill>
            <a:prstDash val="solid"/>
          </a:ln>
        </p:spPr>
      </p:sp>
      <p:sp>
        <p:nvSpPr>
          <p:cNvPr id="10" name="Text 8"/>
          <p:cNvSpPr/>
          <p:nvPr/>
        </p:nvSpPr>
        <p:spPr>
          <a:xfrm>
            <a:off x="6431280" y="1719579"/>
            <a:ext cx="2082495"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E8743B"/>
                </a:solidFill>
                <a:latin typeface="Arial" pitchFamily="34" charset="0"/>
                <a:ea typeface="Arial" pitchFamily="34" charset="-122"/>
                <a:cs typeface="Arial" pitchFamily="34" charset="-120"/>
              </a:rPr>
              <a:t>89 988</a:t>
            </a:r>
            <a:endParaRPr lang="en-US" sz="3400" dirty="0"/>
          </a:p>
        </p:txBody>
      </p:sp>
      <p:sp>
        <p:nvSpPr>
          <p:cNvPr id="11" name="Text 9"/>
          <p:cNvSpPr/>
          <p:nvPr/>
        </p:nvSpPr>
        <p:spPr>
          <a:xfrm>
            <a:off x="6431280" y="2400300"/>
            <a:ext cx="208249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đỉnh, ngày 06/09/2025</a:t>
            </a:r>
            <a:endParaRPr lang="en-US" sz="1500" dirty="0"/>
          </a:p>
        </p:txBody>
      </p:sp>
      <p:sp>
        <p:nvSpPr>
          <p:cNvPr id="12" name="Shape 10"/>
          <p:cNvSpPr/>
          <p:nvPr/>
        </p:nvSpPr>
        <p:spPr>
          <a:xfrm>
            <a:off x="8893175" y="1489075"/>
            <a:ext cx="2482850" cy="1389380"/>
          </a:xfrm>
          <a:prstGeom prst="roundRect">
            <a:avLst>
              <a:gd name="adj" fmla="val 7084"/>
            </a:avLst>
          </a:prstGeom>
          <a:solidFill>
            <a:srgbClr val="FFFFFF"/>
          </a:solidFill>
          <a:ln w="6350">
            <a:solidFill>
              <a:srgbClr val="E0DCCF"/>
            </a:solidFill>
            <a:prstDash val="solid"/>
          </a:ln>
        </p:spPr>
      </p:sp>
      <p:sp>
        <p:nvSpPr>
          <p:cNvPr id="13" name="Text 11"/>
          <p:cNvSpPr/>
          <p:nvPr/>
        </p:nvSpPr>
        <p:spPr>
          <a:xfrm>
            <a:off x="9123680" y="1719579"/>
            <a:ext cx="2082495" cy="629920"/>
          </a:xfrm>
          <a:prstGeom prst="rect">
            <a:avLst/>
          </a:prstGeom>
          <a:noFill/>
          <a:ln/>
        </p:spPr>
        <p:txBody>
          <a:bodyPr wrap="square" lIns="0" tIns="0" rIns="0" bIns="0" rtlCol="0" anchor="t">
            <a:normAutofit/>
          </a:bodyPr>
          <a:lstStyle/>
          <a:p>
            <a:pPr marL="0" indent="0" algn="l">
              <a:lnSpc>
                <a:spcPts val="4760"/>
              </a:lnSpc>
              <a:buNone/>
            </a:pPr>
            <a:r>
              <a:rPr lang="en-US" sz="3400" b="1" dirty="0">
                <a:solidFill>
                  <a:srgbClr val="2F6FDB"/>
                </a:solidFill>
                <a:latin typeface="Arial" pitchFamily="34" charset="0"/>
                <a:ea typeface="Arial" pitchFamily="34" charset="-122"/>
                <a:cs typeface="Arial" pitchFamily="34" charset="-120"/>
              </a:rPr>
              <a:t>23 983</a:t>
            </a:r>
            <a:endParaRPr lang="en-US" sz="3400" dirty="0"/>
          </a:p>
        </p:txBody>
      </p:sp>
      <p:sp>
        <p:nvSpPr>
          <p:cNvPr id="14" name="Text 12"/>
          <p:cNvSpPr/>
          <p:nvPr/>
        </p:nvSpPr>
        <p:spPr>
          <a:xfrm>
            <a:off x="9123680" y="2400300"/>
            <a:ext cx="208249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Arial" pitchFamily="34" charset="0"/>
                <a:ea typeface="Arial" pitchFamily="34" charset="-122"/>
                <a:cs typeface="Arial" pitchFamily="34" charset="-120"/>
              </a:rPr>
              <a:t>đóng cửa cuối năm</a:t>
            </a:r>
            <a:endParaRPr lang="en-US" sz="1500" dirty="0"/>
          </a:p>
        </p:txBody>
      </p:sp>
      <p:sp>
        <p:nvSpPr>
          <p:cNvPr id="15" name="Text 13"/>
          <p:cNvSpPr/>
          <p:nvPr/>
        </p:nvSpPr>
        <p:spPr>
          <a:xfrm>
            <a:off x="889508" y="3135629"/>
            <a:ext cx="10799064" cy="116332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Biên độ cả năm: </a:t>
            </a:r>
            <a:r>
              <a:rPr lang="en-US" sz="1600" b="1" dirty="0">
                <a:solidFill>
                  <a:srgbClr val="14213D"/>
                </a:solidFill>
                <a:latin typeface="Arial" pitchFamily="34" charset="0"/>
                <a:ea typeface="Arial" pitchFamily="34" charset="-122"/>
                <a:cs typeface="Arial" pitchFamily="34" charset="-120"/>
              </a:rPr>
              <a:t>85 655</a:t>
            </a:r>
            <a:r>
              <a:rPr lang="en-US" sz="1600" dirty="0">
                <a:solidFill>
                  <a:srgbClr val="14213D"/>
                </a:solidFill>
                <a:latin typeface="Arial" pitchFamily="34" charset="0"/>
                <a:ea typeface="Arial" pitchFamily="34" charset="-122"/>
                <a:cs typeface="Arial" pitchFamily="34" charset="-120"/>
              </a:rPr>
              <a:t> (89 988 trừ 4 333).</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Biên độ trong một ngày lớn nhất: </a:t>
            </a:r>
            <a:r>
              <a:rPr lang="en-US" sz="1600" b="1" dirty="0">
                <a:solidFill>
                  <a:srgbClr val="14213D"/>
                </a:solidFill>
                <a:latin typeface="Arial" pitchFamily="34" charset="0"/>
                <a:ea typeface="Arial" pitchFamily="34" charset="-122"/>
                <a:cs typeface="Arial" pitchFamily="34" charset="-120"/>
              </a:rPr>
              <a:t>16 362</a:t>
            </a:r>
            <a:r>
              <a:rPr lang="en-US" sz="1600" dirty="0">
                <a:solidFill>
                  <a:srgbClr val="14213D"/>
                </a:solidFill>
                <a:latin typeface="Arial" pitchFamily="34" charset="0"/>
                <a:ea typeface="Arial" pitchFamily="34" charset="-122"/>
                <a:cs typeface="Arial" pitchFamily="34" charset="-120"/>
              </a:rPr>
              <a:t>, đúng ngày 06/09/2025.</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194 ngày đóng cửa cao hơn tham chiếu, 171 ngày thấp hơn.</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Xu hướng chung: tăng mạnh đến giữa quý 3, sau đó điều chỉnh giảm.</a:t>
            </a:r>
            <a:endParaRPr lang="en-US" sz="1600" dirty="0"/>
          </a:p>
        </p:txBody>
      </p:sp>
      <p:sp>
        <p:nvSpPr>
          <p:cNvPr id="16" name="Text 14"/>
          <p:cNvSpPr/>
          <p:nvPr/>
        </p:nvSpPr>
        <p:spPr>
          <a:xfrm>
            <a:off x="812800" y="6238242"/>
            <a:ext cx="263318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10</a:t>
            </a:r>
            <a:endParaRPr 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3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8743B"/>
                </a:solidFill>
                <a:latin typeface="Arial" pitchFamily="34" charset="0"/>
                <a:ea typeface="Arial" pitchFamily="34" charset="-122"/>
                <a:cs typeface="Arial" pitchFamily="34" charset="-120"/>
              </a:rPr>
              <a:t>Vì sao đường đi xuống vẫn có màu xanh?</a:t>
            </a:r>
            <a:endParaRPr lang="en-US" sz="3000" dirty="0"/>
          </a:p>
        </p:txBody>
      </p:sp>
      <p:sp>
        <p:nvSpPr>
          <p:cNvPr id="3" name="Text 1"/>
          <p:cNvSpPr/>
          <p:nvPr/>
        </p:nvSpPr>
        <p:spPr>
          <a:xfrm>
            <a:off x="812800" y="14859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5F3EC"/>
                </a:solidFill>
                <a:latin typeface="Arial" pitchFamily="34" charset="0"/>
                <a:ea typeface="Arial" pitchFamily="34" charset="-122"/>
                <a:cs typeface="Arial" pitchFamily="34" charset="-120"/>
              </a:rPr>
              <a:t>Hàm </a:t>
            </a:r>
            <a:r>
              <a:rPr lang="en-US" sz="1700" b="1" dirty="0">
                <a:solidFill>
                  <a:srgbClr val="F5F3EC"/>
                </a:solidFill>
                <a:latin typeface="Arial" pitchFamily="34" charset="0"/>
                <a:ea typeface="Arial" pitchFamily="34" charset="-122"/>
                <a:cs typeface="Arial" pitchFamily="34" charset="-120"/>
              </a:rPr>
              <a:t>mau()</a:t>
            </a:r>
            <a:r>
              <a:rPr lang="en-US" sz="1700" dirty="0">
                <a:solidFill>
                  <a:srgbClr val="F5F3EC"/>
                </a:solidFill>
                <a:latin typeface="Arial" pitchFamily="34" charset="0"/>
                <a:ea typeface="Arial" pitchFamily="34" charset="-122"/>
                <a:cs typeface="Arial" pitchFamily="34" charset="-120"/>
              </a:rPr>
              <a:t> tô màu bằng cách so giá với </a:t>
            </a:r>
            <a:r>
              <a:rPr lang="en-US" sz="1700" b="1" dirty="0">
                <a:solidFill>
                  <a:srgbClr val="F5F3EC"/>
                </a:solidFill>
                <a:latin typeface="Arial" pitchFamily="34" charset="0"/>
                <a:ea typeface="Arial" pitchFamily="34" charset="-122"/>
                <a:cs typeface="Arial" pitchFamily="34" charset="-120"/>
              </a:rPr>
              <a:t>giá tham chiếu của ngày đó</a:t>
            </a:r>
            <a:r>
              <a:rPr lang="en-US" sz="1700" dirty="0">
                <a:solidFill>
                  <a:srgbClr val="F5F3EC"/>
                </a:solidFill>
                <a:latin typeface="Arial" pitchFamily="34" charset="0"/>
                <a:ea typeface="Arial" pitchFamily="34" charset="-122"/>
                <a:cs typeface="Arial" pitchFamily="34" charset="-120"/>
              </a:rPr>
              <a:t>, không so với điểm liền trước.</a:t>
            </a:r>
            <a:endParaRPr lang="en-US" sz="1700" dirty="0"/>
          </a:p>
        </p:txBody>
      </p:sp>
      <p:sp>
        <p:nvSpPr>
          <p:cNvPr id="4" name="Shape 2"/>
          <p:cNvSpPr/>
          <p:nvPr/>
        </p:nvSpPr>
        <p:spPr>
          <a:xfrm>
            <a:off x="963676" y="2042160"/>
            <a:ext cx="10566400" cy="1463040"/>
          </a:xfrm>
          <a:prstGeom prst="roundRect">
            <a:avLst>
              <a:gd name="adj" fmla="val 6944"/>
            </a:avLst>
          </a:prstGeom>
          <a:solidFill>
            <a:srgbClr val="1D3358"/>
          </a:solidFill>
          <a:ln/>
        </p:spPr>
      </p:sp>
      <p:sp>
        <p:nvSpPr>
          <p:cNvPr id="5" name="Text 3"/>
          <p:cNvSpPr/>
          <p:nvPr/>
        </p:nvSpPr>
        <p:spPr>
          <a:xfrm>
            <a:off x="1066800" y="2296164"/>
            <a:ext cx="1036015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743B"/>
                </a:solidFill>
                <a:latin typeface="Arial" pitchFamily="34" charset="0"/>
                <a:ea typeface="Arial" pitchFamily="34" charset="-122"/>
                <a:cs typeface="Arial" pitchFamily="34" charset="-120"/>
              </a:rPr>
              <a:t>Ví dụ ngày 02/01/2025: tham chiếu 11 000, trần 12 100</a:t>
            </a:r>
            <a:endParaRPr lang="en-US" sz="1600" dirty="0"/>
          </a:p>
        </p:txBody>
      </p:sp>
      <p:sp>
        <p:nvSpPr>
          <p:cNvPr id="6" name="Text 4"/>
          <p:cNvSpPr/>
          <p:nvPr/>
        </p:nvSpPr>
        <p:spPr>
          <a:xfrm>
            <a:off x="1066800" y="2682242"/>
            <a:ext cx="1036015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C"/>
                </a:solidFill>
                <a:latin typeface="Arial" pitchFamily="34" charset="0"/>
                <a:ea typeface="Arial" pitchFamily="34" charset="-122"/>
                <a:cs typeface="Arial" pitchFamily="34" charset="-120"/>
              </a:rPr>
              <a:t>Từ mức giá thứ 5 (12 100) xuống mức thứ 6 (11 579): đường đi xuống. Nhưng 11 579 vẫn lớn hơn 11 000 và chưa tới trần, nên vẫn màu xanh lá.</a:t>
            </a:r>
            <a:endParaRPr lang="en-US" sz="1600" dirty="0"/>
          </a:p>
        </p:txBody>
      </p:sp>
      <p:sp>
        <p:nvSpPr>
          <p:cNvPr id="7" name="Text 5"/>
          <p:cNvSpPr/>
          <p:nvPr/>
        </p:nvSpPr>
        <p:spPr>
          <a:xfrm>
            <a:off x="812800" y="3759200"/>
            <a:ext cx="10883392"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5F3EC"/>
                </a:solidFill>
                <a:latin typeface="Arial" pitchFamily="34" charset="0"/>
                <a:ea typeface="Arial" pitchFamily="34" charset="-122"/>
                <a:cs typeface="Arial" pitchFamily="34" charset="-120"/>
              </a:rPr>
              <a:t>Có </a:t>
            </a:r>
            <a:r>
              <a:rPr lang="en-US" sz="1700" b="1" dirty="0">
                <a:solidFill>
                  <a:srgbClr val="F5F3EC"/>
                </a:solidFill>
                <a:latin typeface="Arial" pitchFamily="34" charset="0"/>
                <a:ea typeface="Arial" pitchFamily="34" charset="-122"/>
                <a:cs typeface="Arial" pitchFamily="34" charset="-120"/>
              </a:rPr>
              <a:t>159 trường hợp</a:t>
            </a:r>
            <a:r>
              <a:rPr lang="en-US" sz="1700" dirty="0">
                <a:solidFill>
                  <a:srgbClr val="F5F3EC"/>
                </a:solidFill>
                <a:latin typeface="Arial" pitchFamily="34" charset="0"/>
                <a:ea typeface="Arial" pitchFamily="34" charset="-122"/>
                <a:cs typeface="Arial" pitchFamily="34" charset="-120"/>
              </a:rPr>
              <a:t> như vậy trong dữ liệu.</a:t>
            </a:r>
            <a:endParaRPr lang="en-US" sz="1700" dirty="0"/>
          </a:p>
        </p:txBody>
      </p:sp>
      <p:sp>
        <p:nvSpPr>
          <p:cNvPr id="8" name="Text 6"/>
          <p:cNvSpPr/>
          <p:nvPr/>
        </p:nvSpPr>
        <p:spPr>
          <a:xfrm>
            <a:off x="812800" y="6238242"/>
            <a:ext cx="26196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11</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2F6FDB"/>
                </a:solidFill>
                <a:latin typeface="Arial" pitchFamily="34" charset="0"/>
                <a:ea typeface="Arial" pitchFamily="34" charset="-122"/>
                <a:cs typeface="Arial" pitchFamily="34" charset="-120"/>
              </a:rPr>
              <a:t>Kết luận và sản phẩm</a:t>
            </a:r>
            <a:endParaRPr lang="en-US" sz="3000" dirty="0"/>
          </a:p>
        </p:txBody>
      </p:sp>
      <p:sp>
        <p:nvSpPr>
          <p:cNvPr id="3" name="Text 1"/>
          <p:cNvSpPr/>
          <p:nvPr/>
        </p:nvSpPr>
        <p:spPr>
          <a:xfrm>
            <a:off x="889508" y="1485900"/>
            <a:ext cx="10799064" cy="87884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ABC tăng rất mạnh từ giữa năm, đạt đỉnh ngày 06/09 rồi điều chỉnh giảm.</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Tháng 9 và quý 3 là giai đoạn biến động mạnh nhất.</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Khoảng 60% số ngày đóng cửa chạm sàn hoặc trần: biên độ trong ngày bị giới hạn bởi quy định sàn, trần.</a:t>
            </a:r>
            <a:endParaRPr lang="en-US" sz="1600" dirty="0"/>
          </a:p>
        </p:txBody>
      </p:sp>
      <p:sp>
        <p:nvSpPr>
          <p:cNvPr id="4" name="Text 2"/>
          <p:cNvSpPr/>
          <p:nvPr/>
        </p:nvSpPr>
        <p:spPr>
          <a:xfrm>
            <a:off x="889508" y="2593342"/>
            <a:ext cx="10799064" cy="87884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Video: out/abc.mp4</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Web: nguyentruongquynhnhi.github.io/mophong_chungkhoan</a:t>
            </a:r>
            <a:endParaRPr lang="en-US" sz="1600" dirty="0"/>
          </a:p>
          <a:p>
            <a:pPr marL="177292" indent="-177292" algn="l">
              <a:lnSpc>
                <a:spcPts val="2240"/>
              </a:lnSpc>
              <a:buSzPct val="100000"/>
              <a:buChar char="•"/>
            </a:pPr>
            <a:r>
              <a:rPr lang="en-US" sz="1600" dirty="0">
                <a:solidFill>
                  <a:srgbClr val="14213D"/>
                </a:solidFill>
                <a:latin typeface="Arial" pitchFamily="34" charset="0"/>
                <a:ea typeface="Arial" pitchFamily="34" charset="-122"/>
                <a:cs typeface="Arial" pitchFamily="34" charset="-120"/>
              </a:rPr>
              <a:t>Mã nguồn: main.py, data_service.py, charts.py, animate.py, latex_export.py</a:t>
            </a:r>
            <a:endParaRPr lang="en-US" sz="1600" dirty="0"/>
          </a:p>
        </p:txBody>
      </p:sp>
      <p:sp>
        <p:nvSpPr>
          <p:cNvPr id="5" name="Text 3"/>
          <p:cNvSpPr/>
          <p:nvPr/>
        </p:nvSpPr>
        <p:spPr>
          <a:xfrm>
            <a:off x="812800" y="3700779"/>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E8743B"/>
                </a:solidFill>
                <a:latin typeface="Arial" pitchFamily="34" charset="0"/>
                <a:ea typeface="Arial" pitchFamily="34" charset="-122"/>
                <a:cs typeface="Arial" pitchFamily="34" charset="-120"/>
              </a:rPr>
              <a:t>Em xin cảm ơn thầy và các bạn đã lắng nghe!</a:t>
            </a:r>
            <a:endParaRPr lang="en-US" sz="2000" dirty="0"/>
          </a:p>
        </p:txBody>
      </p:sp>
      <p:sp>
        <p:nvSpPr>
          <p:cNvPr id="6" name="Text 4"/>
          <p:cNvSpPr/>
          <p:nvPr/>
        </p:nvSpPr>
        <p:spPr>
          <a:xfrm>
            <a:off x="812800" y="6238242"/>
            <a:ext cx="263318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A0"/>
                </a:solidFill>
                <a:latin typeface="Arial" pitchFamily="34" charset="0"/>
                <a:ea typeface="Arial" pitchFamily="34" charset="-122"/>
                <a:cs typeface="Arial" pitchFamily="34" charset="-120"/>
              </a:rPr>
              <a:t>Mô phỏng giá cổ phiếu ABC · 12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80">
                                          <p:stCondLst>
                                            <p:cond delay="0"/>
                                          </p:stCondLst>
                                        </p:cTn>
                                        <p:tgtEl>
                                          <p:spTgt spid="4"/>
                                        </p:tgtEl>
                                      </p:cBhvr>
                                    </p:animEffect>
                                    <p:anim calcmode="lin" valueType="num">
                                      <p:cBhvr>
                                        <p:cTn id="2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gtEl>
                                      </p:cBhvr>
                                      <p:to x="100000" y="60000"/>
                                    </p:animScale>
                                    <p:animScale>
                                      <p:cBhvr>
                                        <p:cTn id="32" dur="166" decel="50000">
                                          <p:stCondLst>
                                            <p:cond delay="676"/>
                                          </p:stCondLst>
                                        </p:cTn>
                                        <p:tgtEl>
                                          <p:spTgt spid="4"/>
                                        </p:tgtEl>
                                      </p:cBhvr>
                                      <p:to x="100000" y="100000"/>
                                    </p:animScale>
                                    <p:animScale>
                                      <p:cBhvr>
                                        <p:cTn id="33" dur="26">
                                          <p:stCondLst>
                                            <p:cond delay="1312"/>
                                          </p:stCondLst>
                                        </p:cTn>
                                        <p:tgtEl>
                                          <p:spTgt spid="4"/>
                                        </p:tgtEl>
                                      </p:cBhvr>
                                      <p:to x="100000" y="80000"/>
                                    </p:animScale>
                                    <p:animScale>
                                      <p:cBhvr>
                                        <p:cTn id="34" dur="166" decel="50000">
                                          <p:stCondLst>
                                            <p:cond delay="1338"/>
                                          </p:stCondLst>
                                        </p:cTn>
                                        <p:tgtEl>
                                          <p:spTgt spid="4"/>
                                        </p:tgtEl>
                                      </p:cBhvr>
                                      <p:to x="100000" y="100000"/>
                                    </p:animScale>
                                    <p:animScale>
                                      <p:cBhvr>
                                        <p:cTn id="35" dur="26">
                                          <p:stCondLst>
                                            <p:cond delay="1642"/>
                                          </p:stCondLst>
                                        </p:cTn>
                                        <p:tgtEl>
                                          <p:spTgt spid="4"/>
                                        </p:tgtEl>
                                      </p:cBhvr>
                                      <p:to x="100000" y="90000"/>
                                    </p:animScale>
                                    <p:animScale>
                                      <p:cBhvr>
                                        <p:cTn id="36" dur="166" decel="50000">
                                          <p:stCondLst>
                                            <p:cond delay="1668"/>
                                          </p:stCondLst>
                                        </p:cTn>
                                        <p:tgtEl>
                                          <p:spTgt spid="4"/>
                                        </p:tgtEl>
                                      </p:cBhvr>
                                      <p:to x="100000" y="100000"/>
                                    </p:animScale>
                                    <p:animScale>
                                      <p:cBhvr>
                                        <p:cTn id="37" dur="26">
                                          <p:stCondLst>
                                            <p:cond delay="1808"/>
                                          </p:stCondLst>
                                        </p:cTn>
                                        <p:tgtEl>
                                          <p:spTgt spid="4"/>
                                        </p:tgtEl>
                                      </p:cBhvr>
                                      <p:to x="100000" y="95000"/>
                                    </p:animScale>
                                    <p:animScale>
                                      <p:cBhvr>
                                        <p:cTn id="38" dur="166" decel="50000">
                                          <p:stCondLst>
                                            <p:cond delay="1834"/>
                                          </p:stCondLst>
                                        </p:cTn>
                                        <p:tgtEl>
                                          <p:spTgt spid="4"/>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circle(in)">
                                      <p:cBhvr>
                                        <p:cTn id="4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theme/theme1.xml><?xml version="1.0" encoding="utf-8"?>
<a:theme xmlns:a="http://schemas.openxmlformats.org/drawingml/2006/main" name="Mô phỏng biến động giá cổ phiếu ABC">
  <a:themeElements>
    <a:clrScheme name="Mô phỏng biến động giá cổ phiếu ABC">
      <a:dk1>
        <a:srgbClr val="14213D"/>
      </a:dk1>
      <a:lt1>
        <a:srgbClr val="F5F3EC"/>
      </a:lt1>
      <a:dk2>
        <a:srgbClr val="4C5669"/>
      </a:dk2>
      <a:lt2>
        <a:srgbClr val="DFDEDB"/>
      </a:lt2>
      <a:accent1>
        <a:srgbClr val="E8743B"/>
      </a:accent1>
      <a:accent2>
        <a:srgbClr val="2F6FDB"/>
      </a:accent2>
      <a:accent3>
        <a:srgbClr val="1D3358"/>
      </a:accent3>
      <a:accent4>
        <a:srgbClr val="6FB1FF"/>
      </a:accent4>
      <a:accent5>
        <a:srgbClr val="9FB3D6"/>
      </a:accent5>
      <a:accent6>
        <a:srgbClr val="C9A0FF"/>
      </a:accent6>
      <a:hlink>
        <a:srgbClr val="0563C1"/>
      </a:hlink>
      <a:folHlink>
        <a:srgbClr val="954F72"/>
      </a:folHlink>
    </a:clrScheme>
    <a:fontScheme name="Mô phỏng biến động giá cổ phiếu AB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2244</Words>
  <Application>Microsoft Office PowerPoint</Application>
  <PresentationFormat>Widescreen</PresentationFormat>
  <Paragraphs>185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Montserrat Bold</vt:lpstr>
      <vt:lpstr>Mô phỏng biến động giá cổ phiếu ABC</vt:lpstr>
      <vt:lpstr>Mô phỏng biến động giá cổ phiếu ABC</vt:lpstr>
      <vt:lpstr>Giới thiệu và dữ liệu</vt:lpstr>
      <vt:lpstr>Quy ước giá và màu sắc</vt:lpstr>
      <vt:lpstr>Cấu trúc mã nguồn Python</vt:lpstr>
      <vt:lpstr>Giá trung bình theo tháng (nghìn đồng)</vt:lpstr>
      <vt:lpstr>Phân bố giá mỗi tháng (biểu đồ hộp)</vt:lpstr>
      <vt:lpstr>Biểu đồ hộp: mức phân tán theo tháng</vt:lpstr>
      <vt:lpstr>Biến động giá theo quý</vt:lpstr>
      <vt:lpstr>Các ngày giao dịch bất thường</vt:lpstr>
      <vt:lpstr>Phân bố giá: nửa đầu và nửa cuối năm</vt:lpstr>
      <vt:lpstr>So sánh nửa đầu và nửa cuối năm</vt:lpstr>
      <vt:lpstr>Xu hướng giá cả năm</vt:lpstr>
      <vt:lpstr>Vì sao đường đi xuống vẫn có màu xanh?</vt:lpstr>
      <vt:lpstr>Kết luận và sản phẩm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phỏng biến động giá cổ phiếu ABC</dc:title>
  <dc:subject/>
  <dc:creator/>
  <cp:lastModifiedBy>Admin</cp:lastModifiedBy>
  <cp:revision>4</cp:revision>
  <dcterms:created xsi:type="dcterms:W3CDTF">2026-10-21T23:03:36Z</dcterms:created>
  <dcterms:modified xsi:type="dcterms:W3CDTF">2026-10-21T23:22:55Z</dcterms:modified>
</cp:coreProperties>
</file>